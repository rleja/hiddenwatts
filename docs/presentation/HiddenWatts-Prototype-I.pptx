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ed48aa5d4b4b31" /><Relationship Type="http://schemas.openxmlformats.org/officeDocument/2006/relationships/extended-properties" Target="/docProps/app.xml" Id="R6a65c1073b654193" /><Relationship Type="http://schemas.openxmlformats.org/officeDocument/2006/relationships/officeDocument" Target="/ppt/presentation.xml" Id="R918006de50b547dc" /></Relationships>
</file>

<file path=ppt/presentation.xml><?xml version="1.0" encoding="utf-8"?>
<p:presentation xmlns:p="http://schemas.openxmlformats.org/presentationml/2006/main">
  <p:sldMasterIdLst>
    <p:sldMasterId xmlns:r="http://schemas.openxmlformats.org/officeDocument/2006/relationships" id="2147483648" r:id="Rc9cc17dede8747a2"/>
  </p:sldMasterIdLst>
  <p:notesMasterIdLst>
    <p:notesMasterId xmlns:r="http://schemas.openxmlformats.org/officeDocument/2006/relationships" r:id="Rc47d0716387c4fb9"/>
  </p:notesMasterIdLst>
  <p:sldIdLst>
    <p:sldId xmlns:r="http://schemas.openxmlformats.org/officeDocument/2006/relationships" id="256" r:id="R69e08d02a9024acc"/>
    <p:sldId xmlns:r="http://schemas.openxmlformats.org/officeDocument/2006/relationships" id="257" r:id="R9a3b8ff7eaf74a2f"/>
    <p:sldId xmlns:r="http://schemas.openxmlformats.org/officeDocument/2006/relationships" id="258" r:id="Rf4ee756328d2421d"/>
    <p:sldId xmlns:r="http://schemas.openxmlformats.org/officeDocument/2006/relationships" id="259" r:id="R090a4cba7ad047fa"/>
    <p:sldId xmlns:r="http://schemas.openxmlformats.org/officeDocument/2006/relationships" id="260" r:id="Rc8191888c336433c"/>
    <p:sldId xmlns:r="http://schemas.openxmlformats.org/officeDocument/2006/relationships" id="261" r:id="Rd17db4b12e3a4cc7"/>
    <p:sldId xmlns:r="http://schemas.openxmlformats.org/officeDocument/2006/relationships" id="262" r:id="R2a548046cd324e9e"/>
    <p:sldId xmlns:r="http://schemas.openxmlformats.org/officeDocument/2006/relationships" id="263" r:id="Rb5c4161898d343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1d8a7721594e5a" /><Relationship Type="http://schemas.openxmlformats.org/officeDocument/2006/relationships/slideMaster" Target="/ppt/slideMasters/slideMaster1.xml" Id="Rc9cc17dede8747a2" /><Relationship Type="http://schemas.openxmlformats.org/officeDocument/2006/relationships/notesMaster" Target="/ppt/notesMasters/notesMaster1.xml" Id="Rc47d0716387c4fb9" /><Relationship Type="http://schemas.openxmlformats.org/officeDocument/2006/relationships/presProps" Target="/ppt/presProps.xml" Id="Rccda70456b574f3b" /><Relationship Type="http://schemas.openxmlformats.org/officeDocument/2006/relationships/tableStyles" Target="/ppt/tableStyles.xml" Id="R4b031be8ec67462e" /><Relationship Type="http://schemas.openxmlformats.org/officeDocument/2006/relationships/slide" Target="/ppt/slides/slide1.xml" Id="R69e08d02a9024acc" /><Relationship Type="http://schemas.openxmlformats.org/officeDocument/2006/relationships/slide" Target="/ppt/slides/slide2.xml" Id="R9a3b8ff7eaf74a2f" /><Relationship Type="http://schemas.openxmlformats.org/officeDocument/2006/relationships/slide" Target="/ppt/slides/slide3.xml" Id="Rf4ee756328d2421d" /><Relationship Type="http://schemas.openxmlformats.org/officeDocument/2006/relationships/slide" Target="/ppt/slides/slide4.xml" Id="R090a4cba7ad047fa" /><Relationship Type="http://schemas.openxmlformats.org/officeDocument/2006/relationships/slide" Target="/ppt/slides/slide5.xml" Id="Rc8191888c336433c" /><Relationship Type="http://schemas.openxmlformats.org/officeDocument/2006/relationships/slide" Target="/ppt/slides/slide6.xml" Id="Rd17db4b12e3a4cc7" /><Relationship Type="http://schemas.openxmlformats.org/officeDocument/2006/relationships/slide" Target="/ppt/slides/slide7.xml" Id="R2a548046cd324e9e" /><Relationship Type="http://schemas.openxmlformats.org/officeDocument/2006/relationships/slide" Target="/ppt/slides/slide8.xml" Id="Rb5c4161898d343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b103afe8204d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82c7cdcfa84345" /><Relationship Type="http://schemas.openxmlformats.org/officeDocument/2006/relationships/notesMaster" Target="/ppt/notesMasters/notesMaster1.xml" Id="R607ba5880fe149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c3960580c043ea" /><Relationship Type="http://schemas.openxmlformats.org/officeDocument/2006/relationships/notesMaster" Target="/ppt/notesMasters/notesMaster1.xml" Id="R8000ef9529ad48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4ce9de47054628" /><Relationship Type="http://schemas.openxmlformats.org/officeDocument/2006/relationships/notesMaster" Target="/ppt/notesMasters/notesMaster1.xml" Id="R8e41906390af40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2d71ffeafd44e5" /><Relationship Type="http://schemas.openxmlformats.org/officeDocument/2006/relationships/notesMaster" Target="/ppt/notesMasters/notesMaster1.xml" Id="Ra7e469eeb06f44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777863f91f4e11" /><Relationship Type="http://schemas.openxmlformats.org/officeDocument/2006/relationships/notesMaster" Target="/ppt/notesMasters/notesMaster1.xml" Id="Re3578986647a44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2fcb415fca429c" /><Relationship Type="http://schemas.openxmlformats.org/officeDocument/2006/relationships/notesMaster" Target="/ppt/notesMasters/notesMaster1.xml" Id="R3787e737ced44b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03399aec624d88" /><Relationship Type="http://schemas.openxmlformats.org/officeDocument/2006/relationships/notesMaster" Target="/ppt/notesMasters/notesMaster1.xml" Id="Re73fb942e12c42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e563f088924237" /><Relationship Type="http://schemas.openxmlformats.org/officeDocument/2006/relationships/notesMaster" Target="/ppt/notesMasters/notesMaster1.xml" Id="R0521e365484f48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Developer identity and concept: supplied game proposal. Screenshot captured from the running local Godot project. This is a solo project with AI-assisted implementation, disclosed on slide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features checked against Player.cs, Investigation.cs, MainMenu.cs, house.tscn and scenarios.json. Screenshot shows the current playable household.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free PreInspectionHint comes from scenarios.json and appears before the Inspect button. Reading it does not reduce the inspection budget. The hint guides a decision without displaying a good/bad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Readings, History and Take action tabs are implemented in GameHud.cs. A correct action resolves a major problem or clears a normal device. Incorrect actions reduce the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SDG 7 and SDG 13 are the themes selected in the supplied proposal. The result screen implements energy, money and emissions savings. Values are illustrative scenario estimates, not measurements or verified learning outcomes. Calculations use 30 days, EUR 0.25/kWh and 0.20 kg CO2/kWh, stored per case in JSON. Scoring: +100 per major problem, +10 per unused inspection after a finding, -50 per incorrect action, -10 per non-major inspection, minimum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Prototype II priorities based on the current implementation. These are future work, not claims of working features. The prototype currently has one house, three data-driven cases, static result feedback and no persistence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disclosure based on the development conversation: Codex assisted implementation, scenarios, UI, collision fixes, refactoring, documentation and presentation preparation. Human contributions reflect the supplied concept and the developer scene edits, testing and design direction. Sprite artwork comes from the supplied game assets. Other tools used for earlier proposal illustrations were not confirmed and are not attributed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URL verified public through the GitHub repository API. Godot project version and C# target checked against src/project.godot and src/HiddenWatts.csproj. Run instructions target Windows PC. Opening the editor imports assets before running the main menu.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21110e4e8f4e1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7d4728e55a540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451485069a640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cc2246847c441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f704deee5348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3260ae038645a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DAADFF-8DA0-47F6-BF3A-CCC90355109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129A641-4415-4742-A981-FB7FA0233D9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909D43-7966-42B9-AF5B-1EE4FA5DCA9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92BE37-1D02-4D57-81FC-A672C1AED4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7035998-CA6B-4C91-AEB7-00127AB10E2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AFF306D-4C2E-43A9-9FFC-FF633CBE8C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239E387-5BA1-4181-9414-B4FB042465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9D5E35-B9F7-43A4-A27D-A8E816B66ED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C1C905-BB83-42DE-ABD4-45889408B3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CD942A-3EE8-4E6A-8931-9A051DBDCA6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e762a6ffce461d" /><Relationship Type="http://schemas.openxmlformats.org/officeDocument/2006/relationships/slideLayout" Target="/ppt/slideLayouts/slideLayout1.xml" Id="R51214d6b39784674" /><Relationship Type="http://schemas.openxmlformats.org/officeDocument/2006/relationships/slideLayout" Target="/ppt/slideLayouts/slideLayout2.xml" Id="Recfee2fa56704e3f" /><Relationship Type="http://schemas.openxmlformats.org/officeDocument/2006/relationships/slideLayout" Target="/ppt/slideLayouts/slideLayout3.xml" Id="R9fc664ad87ab4f5c" /><Relationship Type="http://schemas.openxmlformats.org/officeDocument/2006/relationships/slideLayout" Target="/ppt/slideLayouts/slideLayout4.xml" Id="R957626cd7d13485e" /><Relationship Type="http://schemas.openxmlformats.org/officeDocument/2006/relationships/slideLayout" Target="/ppt/slideLayouts/slideLayout5.xml" Id="R142152d6075d415c" /><Relationship Type="http://schemas.openxmlformats.org/officeDocument/2006/relationships/slideLayout" Target="/ppt/slideLayouts/slideLayout6.xml" Id="R5cda4f93e4ec40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1214d6b39784674"/>
    <p:sldLayoutId xmlns:r="http://schemas.openxmlformats.org/officeDocument/2006/relationships" id="2147483650" r:id="Recfee2fa56704e3f"/>
    <p:sldLayoutId xmlns:r="http://schemas.openxmlformats.org/officeDocument/2006/relationships" id="2147483651" r:id="R9fc664ad87ab4f5c"/>
    <p:sldLayoutId xmlns:r="http://schemas.openxmlformats.org/officeDocument/2006/relationships" id="2147483652" r:id="R957626cd7d13485e"/>
    <p:sldLayoutId xmlns:r="http://schemas.openxmlformats.org/officeDocument/2006/relationships" id="2147483653" r:id="R142152d6075d415c"/>
    <p:sldLayoutId xmlns:r="http://schemas.openxmlformats.org/officeDocument/2006/relationships" id="2147483654" r:id="R5cda4f93e4ec40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5480f2c927548a5" /><Relationship Type="http://schemas.openxmlformats.org/officeDocument/2006/relationships/image" Target="/ppt/media/image.png" Id="R61f20677e6ce4ccd" /><Relationship Type="http://schemas.openxmlformats.org/officeDocument/2006/relationships/notesSlide" Target="/ppt/notesSlides/notesSlide1.xml" Id="Rbceda16bb3ac46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9c9b3796ef45eb" /><Relationship Type="http://schemas.openxmlformats.org/officeDocument/2006/relationships/image" Target="/ppt/media/image2.png" Id="R28184a1a73e743c1" /><Relationship Type="http://schemas.openxmlformats.org/officeDocument/2006/relationships/notesSlide" Target="/ppt/notesSlides/notesSlide2.xml" Id="R9da782b0887b41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8090cae3d2c46ea" /><Relationship Type="http://schemas.openxmlformats.org/officeDocument/2006/relationships/image" Target="/ppt/media/image3.png" Id="R793641548f92440c" /><Relationship Type="http://schemas.openxmlformats.org/officeDocument/2006/relationships/notesSlide" Target="/ppt/notesSlides/notesSlide3.xml" Id="R12e537cc45d644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2a4fd5babbc49fe" /><Relationship Type="http://schemas.openxmlformats.org/officeDocument/2006/relationships/image" Target="/ppt/media/image4.png" Id="Rc8b7653e9d964fd0" /><Relationship Type="http://schemas.openxmlformats.org/officeDocument/2006/relationships/notesSlide" Target="/ppt/notesSlides/notesSlide4.xml" Id="R794df3e64fbe48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b9c2dca0f9c4363" /><Relationship Type="http://schemas.openxmlformats.org/officeDocument/2006/relationships/image" Target="/ppt/media/image5.png" Id="Rf112dd6e398645d0" /><Relationship Type="http://schemas.openxmlformats.org/officeDocument/2006/relationships/notesSlide" Target="/ppt/notesSlides/notesSlide5.xml" Id="Rb7f1c553fbf348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b0e717e5fdd4f38" /><Relationship Type="http://schemas.openxmlformats.org/officeDocument/2006/relationships/notesSlide" Target="/ppt/notesSlides/notesSlide6.xml" Id="R3ec435e4718843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ee2add030594acb" /><Relationship Type="http://schemas.openxmlformats.org/officeDocument/2006/relationships/notesSlide" Target="/ppt/notesSlides/notesSlide7.xml" Id="R1895045ea08242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1c953fce75c4c11" /><Relationship Type="http://schemas.openxmlformats.org/officeDocument/2006/relationships/notesSlide" Target="/ppt/notesSlides/notesSlide8.xml" Id="R03483db7ad164bfa" /></Relationships>
</file>

<file path=ppt/slides/slide1.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9B2E7E-F76C-4FC8-9CEC-737F65B20ABB}"/>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Hidden Watts</a:t>
            </a:r>
          </a:p>
        </p:txBody>
      </p:sp>
      <p:sp>
        <p:nvSpPr>
          <p:cNvPr id="2" name="">
            <a:extLst xmlns:a="http://schemas.openxmlformats.org/drawingml/2006/main">
              <a:ext uri="{FF2B5EF4-FFF2-40B4-BE49-F238E27FC236}">
                <a16:creationId xmlns:a16="http://schemas.microsoft.com/office/drawing/2014/main" id="{CE4C288D-44DA-46DE-8C97-CA0423F31640}"/>
              </a:ext>
            </a:extLst>
          </p:cNvPr>
          <p:cNvSpPr>
            <a:spLocks xmlns:a="http://schemas.openxmlformats.org/drawingml/2006/main" noGrp="1"/>
          </p:cNvSpPr>
          <p:nvPr/>
        </p:nvSpPr>
        <p:spPr>
          <a:xfrm xmlns:a="http://schemas.openxmlformats.org/drawingml/2006/main">
            <a:off x="609600" y="1285875"/>
            <a:ext cx="409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342E25"/>
                </a:solidFill>
                <a:latin typeface="Arial"/>
                <a:ea typeface="Arial"/>
                <a:cs typeface="Arial"/>
              </a:defRPr>
            </a:defPPr>
            <a:lvl1pPr>
              <a:defRPr sz="2400" b="0">
                <a:solidFill>
                  <a:srgbClr val="342E25"/>
                </a:solidFill>
                <a:latin typeface="Arial"/>
                <a:ea typeface="Arial"/>
                <a:cs typeface="Arial"/>
              </a:defRPr>
            </a:lvl1pPr>
            <a:lvl2pPr>
              <a:defRPr sz="2400" b="0">
                <a:solidFill>
                  <a:srgbClr val="342E25"/>
                </a:solidFill>
                <a:latin typeface="Arial"/>
                <a:ea typeface="Arial"/>
                <a:cs typeface="Arial"/>
              </a:defRPr>
            </a:lvl2pPr>
            <a:lvl3pPr>
              <a:defRPr sz="2400" b="0">
                <a:solidFill>
                  <a:srgbClr val="342E25"/>
                </a:solidFill>
                <a:latin typeface="Arial"/>
                <a:ea typeface="Arial"/>
                <a:cs typeface="Arial"/>
              </a:defRPr>
            </a:lvl3pPr>
            <a:lvl4pPr>
              <a:defRPr sz="2400" b="0">
                <a:solidFill>
                  <a:srgbClr val="342E25"/>
                </a:solidFill>
                <a:latin typeface="Arial"/>
                <a:ea typeface="Arial"/>
                <a:cs typeface="Arial"/>
              </a:defRPr>
            </a:lvl4pPr>
            <a:lvl5pPr>
              <a:defRPr sz="2400" b="0">
                <a:solidFill>
                  <a:srgbClr val="342E25"/>
                </a:solidFill>
                <a:latin typeface="Arial"/>
                <a:ea typeface="Arial"/>
                <a:cs typeface="Arial"/>
              </a:defRPr>
            </a:lvl5pPr>
            <a:lvl6pPr>
              <a:defRPr sz="2400" b="0">
                <a:solidFill>
                  <a:srgbClr val="342E25"/>
                </a:solidFill>
                <a:latin typeface="Arial"/>
                <a:ea typeface="Arial"/>
                <a:cs typeface="Arial"/>
              </a:defRPr>
            </a:lvl6pPr>
            <a:lvl7pPr>
              <a:defRPr sz="2400" b="0">
                <a:solidFill>
                  <a:srgbClr val="342E25"/>
                </a:solidFill>
                <a:latin typeface="Arial"/>
                <a:ea typeface="Arial"/>
                <a:cs typeface="Arial"/>
              </a:defRPr>
            </a:lvl7pPr>
            <a:lvl8pPr>
              <a:defRPr sz="2400" b="0">
                <a:solidFill>
                  <a:srgbClr val="342E25"/>
                </a:solidFill>
                <a:latin typeface="Arial"/>
                <a:ea typeface="Arial"/>
                <a:cs typeface="Arial"/>
              </a:defRPr>
            </a:lvl8pPr>
            <a:lvl9pPr>
              <a:defRPr sz="2400" b="0">
                <a:solidFill>
                  <a:srgbClr val="342E25"/>
                </a:solidFill>
                <a:latin typeface="Arial"/>
                <a:ea typeface="Arial"/>
                <a:cs typeface="Arial"/>
              </a:defRPr>
            </a:lvl9pPr>
          </a:lstStyle>
          <a:p xmlns:a="http://schemas.openxmlformats.org/drawingml/2006/main">
            <a:pPr>
              <a:defRPr sz="2400" b="0">
                <a:solidFill>
                  <a:srgbClr val="342E25"/>
                </a:solidFill>
                <a:latin typeface="Arial"/>
                <a:ea typeface="Arial"/>
                <a:cs typeface="Arial"/>
              </a:defRPr>
            </a:pPr>
            <a:r>
              <a:rPr sz="2400" b="0">
                <a:solidFill>
                  <a:srgbClr val="342E25"/>
                </a:solidFill>
                <a:latin typeface="Arial"/>
                <a:ea typeface="Arial"/>
                <a:cs typeface="Arial"/>
              </a:rPr>
              <a:t>Playable Prototype I</a:t>
            </a:r>
          </a:p>
        </p:txBody>
      </p:sp>
      <p:sp>
        <p:nvSpPr>
          <p:cNvPr id="3" name="">
            <a:extLst xmlns:a="http://schemas.openxmlformats.org/drawingml/2006/main">
              <a:ext uri="{FF2B5EF4-FFF2-40B4-BE49-F238E27FC236}">
                <a16:creationId xmlns:a16="http://schemas.microsoft.com/office/drawing/2014/main" id="{DE8B3842-2393-4093-B7FC-94C303345939}"/>
              </a:ext>
            </a:extLst>
          </p:cNvPr>
          <p:cNvSpPr>
            <a:spLocks xmlns:a="http://schemas.openxmlformats.org/drawingml/2006/main" noGrp="1"/>
          </p:cNvSpPr>
          <p:nvPr/>
        </p:nvSpPr>
        <p:spPr>
          <a:xfrm xmlns:a="http://schemas.openxmlformats.org/drawingml/2006/main">
            <a:off x="609600" y="2238375"/>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Rolands Leja</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rl23030</a:t>
            </a:r>
          </a:p>
        </p:txBody>
      </p:sp>
      <p:sp>
        <p:nvSpPr>
          <p:cNvPr id="4" name="">
            <a:extLst xmlns:a="http://schemas.openxmlformats.org/drawingml/2006/main">
              <a:ext uri="{FF2B5EF4-FFF2-40B4-BE49-F238E27FC236}">
                <a16:creationId xmlns:a16="http://schemas.microsoft.com/office/drawing/2014/main" id="{E5229F3F-BBB3-484F-A4BE-FF12CA387371}"/>
              </a:ext>
            </a:extLst>
          </p:cNvPr>
          <p:cNvSpPr>
            <a:spLocks xmlns:a="http://schemas.openxmlformats.org/drawingml/2006/main" noGrp="1"/>
          </p:cNvSpPr>
          <p:nvPr/>
        </p:nvSpPr>
        <p:spPr>
          <a:xfrm xmlns:a="http://schemas.openxmlformats.org/drawingml/2006/main">
            <a:off x="609600" y="3524250"/>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342E25"/>
                </a:solidFill>
                <a:latin typeface="Arial"/>
                <a:ea typeface="Arial"/>
                <a:cs typeface="Arial"/>
              </a:defRPr>
            </a:defPPr>
            <a:lvl1pPr>
              <a:defRPr sz="2175" b="0">
                <a:solidFill>
                  <a:srgbClr val="342E25"/>
                </a:solidFill>
                <a:latin typeface="Arial"/>
                <a:ea typeface="Arial"/>
                <a:cs typeface="Arial"/>
              </a:defRPr>
            </a:lvl1pPr>
            <a:lvl2pPr>
              <a:defRPr sz="2175" b="0">
                <a:solidFill>
                  <a:srgbClr val="342E25"/>
                </a:solidFill>
                <a:latin typeface="Arial"/>
                <a:ea typeface="Arial"/>
                <a:cs typeface="Arial"/>
              </a:defRPr>
            </a:lvl2pPr>
            <a:lvl3pPr>
              <a:defRPr sz="2175" b="0">
                <a:solidFill>
                  <a:srgbClr val="342E25"/>
                </a:solidFill>
                <a:latin typeface="Arial"/>
                <a:ea typeface="Arial"/>
                <a:cs typeface="Arial"/>
              </a:defRPr>
            </a:lvl3pPr>
            <a:lvl4pPr>
              <a:defRPr sz="2175" b="0">
                <a:solidFill>
                  <a:srgbClr val="342E25"/>
                </a:solidFill>
                <a:latin typeface="Arial"/>
                <a:ea typeface="Arial"/>
                <a:cs typeface="Arial"/>
              </a:defRPr>
            </a:lvl4pPr>
            <a:lvl5pPr>
              <a:defRPr sz="2175" b="0">
                <a:solidFill>
                  <a:srgbClr val="342E25"/>
                </a:solidFill>
                <a:latin typeface="Arial"/>
                <a:ea typeface="Arial"/>
                <a:cs typeface="Arial"/>
              </a:defRPr>
            </a:lvl5pPr>
            <a:lvl6pPr>
              <a:defRPr sz="2175" b="0">
                <a:solidFill>
                  <a:srgbClr val="342E25"/>
                </a:solidFill>
                <a:latin typeface="Arial"/>
                <a:ea typeface="Arial"/>
                <a:cs typeface="Arial"/>
              </a:defRPr>
            </a:lvl6pPr>
            <a:lvl7pPr>
              <a:defRPr sz="2175" b="0">
                <a:solidFill>
                  <a:srgbClr val="342E25"/>
                </a:solidFill>
                <a:latin typeface="Arial"/>
                <a:ea typeface="Arial"/>
                <a:cs typeface="Arial"/>
              </a:defRPr>
            </a:lvl7pPr>
            <a:lvl8pPr>
              <a:defRPr sz="2175" b="0">
                <a:solidFill>
                  <a:srgbClr val="342E25"/>
                </a:solidFill>
                <a:latin typeface="Arial"/>
                <a:ea typeface="Arial"/>
                <a:cs typeface="Arial"/>
              </a:defRPr>
            </a:lvl8pPr>
            <a:lvl9pPr>
              <a:defRPr sz="2175" b="0">
                <a:solidFill>
                  <a:srgbClr val="342E25"/>
                </a:solidFill>
                <a:latin typeface="Arial"/>
                <a:ea typeface="Arial"/>
                <a:cs typeface="Arial"/>
              </a:defRPr>
            </a:lvl9pPr>
          </a:lstStyle>
          <a:p xmlns:a="http://schemas.openxmlformats.org/drawingml/2006/main">
            <a:pPr>
              <a:defRPr sz="2175" b="0">
                <a:solidFill>
                  <a:srgbClr val="342E25"/>
                </a:solidFill>
                <a:latin typeface="Arial"/>
                <a:ea typeface="Arial"/>
                <a:cs typeface="Arial"/>
              </a:defRPr>
            </a:pPr>
            <a:r>
              <a:rPr sz="2175" b="0">
                <a:solidFill>
                  <a:srgbClr val="342E25"/>
                </a:solidFill>
                <a:latin typeface="Arial"/>
                <a:ea typeface="Arial"/>
                <a:cs typeface="Arial"/>
              </a:rPr>
              <a:t>A single-player detective game about finding avoidable household electricity use.</a:t>
            </a:r>
          </a:p>
        </p:txBody>
      </p:sp>
      <p:sp>
        <p:nvSpPr>
          <p:cNvPr id="5" name="">
            <a:extLst xmlns:a="http://schemas.openxmlformats.org/drawingml/2006/main">
              <a:ext uri="{FF2B5EF4-FFF2-40B4-BE49-F238E27FC236}">
                <a16:creationId xmlns:a16="http://schemas.microsoft.com/office/drawing/2014/main" id="{2656FC2A-5C29-4BCD-9D3A-DE9A2ADB9C3B}"/>
              </a:ext>
            </a:extLst>
          </p:cNvPr>
          <p:cNvSpPr>
            <a:spLocks xmlns:a="http://schemas.openxmlformats.org/drawingml/2006/main" noGrp="1"/>
          </p:cNvSpPr>
          <p:nvPr/>
        </p:nvSpPr>
        <p:spPr>
          <a:xfrm xmlns:a="http://schemas.openxmlformats.org/drawingml/2006/main">
            <a:off x="609600" y="5562600"/>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75" b="0">
                <a:solidFill>
                  <a:srgbClr val="756D5D"/>
                </a:solidFill>
                <a:latin typeface="Arial"/>
                <a:ea typeface="Arial"/>
                <a:cs typeface="Arial"/>
              </a:defRPr>
            </a:defPPr>
            <a:lvl1pPr>
              <a:defRPr sz="1575" b="0">
                <a:solidFill>
                  <a:srgbClr val="756D5D"/>
                </a:solidFill>
                <a:latin typeface="Arial"/>
                <a:ea typeface="Arial"/>
                <a:cs typeface="Arial"/>
              </a:defRPr>
            </a:lvl1pPr>
            <a:lvl2pPr>
              <a:defRPr sz="1575" b="0">
                <a:solidFill>
                  <a:srgbClr val="756D5D"/>
                </a:solidFill>
                <a:latin typeface="Arial"/>
                <a:ea typeface="Arial"/>
                <a:cs typeface="Arial"/>
              </a:defRPr>
            </a:lvl2pPr>
            <a:lvl3pPr>
              <a:defRPr sz="1575" b="0">
                <a:solidFill>
                  <a:srgbClr val="756D5D"/>
                </a:solidFill>
                <a:latin typeface="Arial"/>
                <a:ea typeface="Arial"/>
                <a:cs typeface="Arial"/>
              </a:defRPr>
            </a:lvl3pPr>
            <a:lvl4pPr>
              <a:defRPr sz="1575" b="0">
                <a:solidFill>
                  <a:srgbClr val="756D5D"/>
                </a:solidFill>
                <a:latin typeface="Arial"/>
                <a:ea typeface="Arial"/>
                <a:cs typeface="Arial"/>
              </a:defRPr>
            </a:lvl4pPr>
            <a:lvl5pPr>
              <a:defRPr sz="1575" b="0">
                <a:solidFill>
                  <a:srgbClr val="756D5D"/>
                </a:solidFill>
                <a:latin typeface="Arial"/>
                <a:ea typeface="Arial"/>
                <a:cs typeface="Arial"/>
              </a:defRPr>
            </a:lvl5pPr>
            <a:lvl6pPr>
              <a:defRPr sz="1575" b="0">
                <a:solidFill>
                  <a:srgbClr val="756D5D"/>
                </a:solidFill>
                <a:latin typeface="Arial"/>
                <a:ea typeface="Arial"/>
                <a:cs typeface="Arial"/>
              </a:defRPr>
            </a:lvl6pPr>
            <a:lvl7pPr>
              <a:defRPr sz="1575" b="0">
                <a:solidFill>
                  <a:srgbClr val="756D5D"/>
                </a:solidFill>
                <a:latin typeface="Arial"/>
                <a:ea typeface="Arial"/>
                <a:cs typeface="Arial"/>
              </a:defRPr>
            </a:lvl7pPr>
            <a:lvl8pPr>
              <a:defRPr sz="1575" b="0">
                <a:solidFill>
                  <a:srgbClr val="756D5D"/>
                </a:solidFill>
                <a:latin typeface="Arial"/>
                <a:ea typeface="Arial"/>
                <a:cs typeface="Arial"/>
              </a:defRPr>
            </a:lvl8pPr>
            <a:lvl9pPr>
              <a:defRPr sz="1575" b="0">
                <a:solidFill>
                  <a:srgbClr val="756D5D"/>
                </a:solidFill>
                <a:latin typeface="Arial"/>
                <a:ea typeface="Arial"/>
                <a:cs typeface="Arial"/>
              </a:defRPr>
            </a:lvl9pPr>
          </a:lstStyle>
          <a:p xmlns:a="http://schemas.openxmlformats.org/drawingml/2006/main">
            <a:pPr>
              <a:defRPr sz="1575" b="0">
                <a:solidFill>
                  <a:srgbClr val="756D5D"/>
                </a:solidFill>
                <a:latin typeface="Arial"/>
                <a:ea typeface="Arial"/>
                <a:cs typeface="Arial"/>
              </a:defRPr>
            </a:pPr>
            <a:r>
              <a:rPr sz="1575" b="0">
                <a:solidFill>
                  <a:srgbClr val="756D5D"/>
                </a:solidFill>
                <a:latin typeface="Arial"/>
                <a:ea typeface="Arial"/>
                <a:cs typeface="Arial"/>
              </a:rPr>
              <a:t>Windows PC</a:t>
            </a:r>
          </a:p>
          <a:p xmlns:a="http://schemas.openxmlformats.org/drawingml/2006/main">
            <a:pPr>
              <a:defRPr sz="1575" b="0">
                <a:solidFill>
                  <a:srgbClr val="756D5D"/>
                </a:solidFill>
                <a:latin typeface="Arial"/>
                <a:ea typeface="Arial"/>
                <a:cs typeface="Arial"/>
              </a:defRPr>
            </a:pPr>
            <a:r>
              <a:rPr sz="1575" b="0">
                <a:solidFill>
                  <a:srgbClr val="756D5D"/>
                </a:solidFill>
                <a:latin typeface="Arial"/>
                <a:ea typeface="Arial"/>
                <a:cs typeface="Arial"/>
              </a:rPr>
              <a:t>Godot .NET and C#</a:t>
            </a:r>
          </a:p>
        </p:txBody>
      </p:sp>
      <p:pic>
        <p:nvPicPr>
          <p:cNvPr id="6" name="">
            <a:extLst xmlns:a="http://schemas.openxmlformats.org/drawingml/2006/main">
              <a:ext uri="{FF2B5EF4-FFF2-40B4-BE49-F238E27FC236}">
                <a16:creationId xmlns:a16="http://schemas.microsoft.com/office/drawing/2014/main" id="{03B52137-3F42-4B26-9232-062A26E8B40D}"/>
              </a:ext>
            </a:extLst>
          </p:cNvPr>
          <p:cNvPicPr>
            <a:picLocks xmlns:a="http://schemas.openxmlformats.org/drawingml/2006/main" noChangeAspect="1"/>
          </p:cNvPicPr>
          <p:nvPr/>
        </p:nvPicPr>
        <p:blipFill>
          <a:blip xmlns:r="http://schemas.openxmlformats.org/officeDocument/2006/relationships" xmlns:a="http://schemas.openxmlformats.org/drawingml/2006/main" r:embed="R61f20677e6ce4ccd"/>
          <a:stretch xmlns:a="http://schemas.openxmlformats.org/drawingml/2006/main"/>
        </p:blipFill>
        <p:spPr>
          <a:xfrm xmlns:a="http://schemas.openxmlformats.org/drawingml/2006/main">
            <a:off x="4857750" y="1504950"/>
            <a:ext cx="6858000" cy="3857625"/>
          </a:xfrm>
          <a:prstGeom xmlns:a="http://schemas.openxmlformats.org/drawingml/2006/main" prst="rect">
            <a:avLst/>
          </a:prstGeom>
        </p:spPr>
      </p:pic>
    </p:spTree>
    <p:extLst>
      <p:ext uri="{BB962C8B-B14F-4D97-AF65-F5344CB8AC3E}">
        <p14:creationId xmlns:p14="http://schemas.microsoft.com/office/powerpoint/2010/main" val="1345718107"/>
      </p:ext>
    </p:extLst>
  </p:cSld>
</p:sld>
</file>

<file path=ppt/slides/slide2.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A9D22-E152-4BEA-A3E4-F37457FF9390}"/>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Implemented features</a:t>
            </a:r>
          </a:p>
        </p:txBody>
      </p:sp>
      <p:sp>
        <p:nvSpPr>
          <p:cNvPr id="2" name="">
            <a:extLst xmlns:a="http://schemas.openxmlformats.org/drawingml/2006/main">
              <a:ext uri="{FF2B5EF4-FFF2-40B4-BE49-F238E27FC236}">
                <a16:creationId xmlns:a16="http://schemas.microsoft.com/office/drawing/2014/main" id="{0B8F6E91-2375-41B5-9FB4-E34A1C577191}"/>
              </a:ext>
            </a:extLst>
          </p:cNvPr>
          <p:cNvSpPr>
            <a:spLocks xmlns:a="http://schemas.openxmlformats.org/drawingml/2006/main" noGrp="1"/>
          </p:cNvSpPr>
          <p:nvPr/>
        </p:nvSpPr>
        <p:spPr>
          <a:xfrm xmlns:a="http://schemas.openxmlformats.org/drawingml/2006/main">
            <a:off x="609600" y="14763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Explore a furnished house with an animated character and furniture collisions.</a:t>
            </a:r>
          </a:p>
        </p:txBody>
      </p:sp>
      <p:sp>
        <p:nvSpPr>
          <p:cNvPr id="3" name="">
            <a:extLst xmlns:a="http://schemas.openxmlformats.org/drawingml/2006/main">
              <a:ext uri="{FF2B5EF4-FFF2-40B4-BE49-F238E27FC236}">
                <a16:creationId xmlns:a16="http://schemas.microsoft.com/office/drawing/2014/main" id="{18FF6926-AE86-4520-940D-D7990CD01A2E}"/>
              </a:ext>
            </a:extLst>
          </p:cNvPr>
          <p:cNvSpPr>
            <a:spLocks xmlns:a="http://schemas.openxmlformats.org/drawingml/2006/main" noGrp="1"/>
          </p:cNvSpPr>
          <p:nvPr/>
        </p:nvSpPr>
        <p:spPr>
          <a:xfrm xmlns:a="http://schemas.openxmlformats.org/drawingml/2006/main">
            <a:off x="609600" y="27336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Approach 11 electrical devices and press E to examine them.</a:t>
            </a:r>
          </a:p>
        </p:txBody>
      </p:sp>
      <p:sp>
        <p:nvSpPr>
          <p:cNvPr id="4" name="">
            <a:extLst xmlns:a="http://schemas.openxmlformats.org/drawingml/2006/main">
              <a:ext uri="{FF2B5EF4-FFF2-40B4-BE49-F238E27FC236}">
                <a16:creationId xmlns:a16="http://schemas.microsoft.com/office/drawing/2014/main" id="{610D673F-8FDD-4699-8735-47BB325D407F}"/>
              </a:ext>
            </a:extLst>
          </p:cNvPr>
          <p:cNvSpPr>
            <a:spLocks xmlns:a="http://schemas.openxmlformats.org/drawingml/2006/main" noGrp="1"/>
          </p:cNvSpPr>
          <p:nvPr/>
        </p:nvSpPr>
        <p:spPr>
          <a:xfrm xmlns:a="http://schemas.openxmlformats.org/drawingml/2006/main">
            <a:off x="609600" y="39909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Three complete cases load from JSON. Returning to the menu chooses another case.</a:t>
            </a:r>
          </a:p>
        </p:txBody>
      </p:sp>
      <p:pic>
        <p:nvPicPr>
          <p:cNvPr id="5" name="">
            <a:extLst xmlns:a="http://schemas.openxmlformats.org/drawingml/2006/main">
              <a:ext uri="{FF2B5EF4-FFF2-40B4-BE49-F238E27FC236}">
                <a16:creationId xmlns:a16="http://schemas.microsoft.com/office/drawing/2014/main" id="{4420450D-4BE1-4AC9-B4C1-4397814540AA}"/>
              </a:ext>
            </a:extLst>
          </p:cNvPr>
          <p:cNvPicPr>
            <a:picLocks xmlns:a="http://schemas.openxmlformats.org/drawingml/2006/main" noChangeAspect="1"/>
          </p:cNvPicPr>
          <p:nvPr/>
        </p:nvPicPr>
        <p:blipFill>
          <a:blip xmlns:r="http://schemas.openxmlformats.org/officeDocument/2006/relationships" xmlns:a="http://schemas.openxmlformats.org/drawingml/2006/main" r:embed="R28184a1a73e743c1"/>
          <a:stretch xmlns:a="http://schemas.openxmlformats.org/drawingml/2006/main"/>
        </p:blipFill>
        <p:spPr>
          <a:xfrm xmlns:a="http://schemas.openxmlformats.org/drawingml/2006/main">
            <a:off x="5067300" y="1585317"/>
            <a:ext cx="6572250" cy="369689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0148033-78CF-481B-812B-974864694E61}"/>
              </a:ext>
            </a:extLst>
          </p:cNvPr>
          <p:cNvSpPr>
            <a:spLocks xmlns:a="http://schemas.openxmlformats.org/drawingml/2006/main" noGrp="1"/>
          </p:cNvSpPr>
          <p:nvPr/>
        </p:nvSpPr>
        <p:spPr>
          <a:xfrm xmlns:a="http://schemas.openxmlformats.org/drawingml/2006/main">
            <a:off x="5238750" y="560070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342E25"/>
                </a:solidFill>
                <a:latin typeface="Arial"/>
                <a:ea typeface="Arial"/>
                <a:cs typeface="Arial"/>
              </a:defRPr>
            </a:defPPr>
            <a:lvl1pPr>
              <a:defRPr sz="1650" b="0">
                <a:solidFill>
                  <a:srgbClr val="342E25"/>
                </a:solidFill>
                <a:latin typeface="Arial"/>
                <a:ea typeface="Arial"/>
                <a:cs typeface="Arial"/>
              </a:defRPr>
            </a:lvl1pPr>
            <a:lvl2pPr>
              <a:defRPr sz="1650" b="0">
                <a:solidFill>
                  <a:srgbClr val="342E25"/>
                </a:solidFill>
                <a:latin typeface="Arial"/>
                <a:ea typeface="Arial"/>
                <a:cs typeface="Arial"/>
              </a:defRPr>
            </a:lvl2pPr>
            <a:lvl3pPr>
              <a:defRPr sz="1650" b="0">
                <a:solidFill>
                  <a:srgbClr val="342E25"/>
                </a:solidFill>
                <a:latin typeface="Arial"/>
                <a:ea typeface="Arial"/>
                <a:cs typeface="Arial"/>
              </a:defRPr>
            </a:lvl3pPr>
            <a:lvl4pPr>
              <a:defRPr sz="1650" b="0">
                <a:solidFill>
                  <a:srgbClr val="342E25"/>
                </a:solidFill>
                <a:latin typeface="Arial"/>
                <a:ea typeface="Arial"/>
                <a:cs typeface="Arial"/>
              </a:defRPr>
            </a:lvl4pPr>
            <a:lvl5pPr>
              <a:defRPr sz="1650" b="0">
                <a:solidFill>
                  <a:srgbClr val="342E25"/>
                </a:solidFill>
                <a:latin typeface="Arial"/>
                <a:ea typeface="Arial"/>
                <a:cs typeface="Arial"/>
              </a:defRPr>
            </a:lvl5pPr>
            <a:lvl6pPr>
              <a:defRPr sz="1650" b="0">
                <a:solidFill>
                  <a:srgbClr val="342E25"/>
                </a:solidFill>
                <a:latin typeface="Arial"/>
                <a:ea typeface="Arial"/>
                <a:cs typeface="Arial"/>
              </a:defRPr>
            </a:lvl6pPr>
            <a:lvl7pPr>
              <a:defRPr sz="1650" b="0">
                <a:solidFill>
                  <a:srgbClr val="342E25"/>
                </a:solidFill>
                <a:latin typeface="Arial"/>
                <a:ea typeface="Arial"/>
                <a:cs typeface="Arial"/>
              </a:defRPr>
            </a:lvl7pPr>
            <a:lvl8pPr>
              <a:defRPr sz="1650" b="0">
                <a:solidFill>
                  <a:srgbClr val="342E25"/>
                </a:solidFill>
                <a:latin typeface="Arial"/>
                <a:ea typeface="Arial"/>
                <a:cs typeface="Arial"/>
              </a:defRPr>
            </a:lvl8pPr>
            <a:lvl9pPr>
              <a:defRPr sz="1650" b="0">
                <a:solidFill>
                  <a:srgbClr val="342E25"/>
                </a:solidFill>
                <a:latin typeface="Arial"/>
                <a:ea typeface="Arial"/>
                <a:cs typeface="Arial"/>
              </a:defRPr>
            </a:lvl9pPr>
          </a:lstStyle>
          <a:p xmlns:a="http://schemas.openxmlformats.org/drawingml/2006/main">
            <a:pPr>
              <a:defRPr sz="1650" b="0">
                <a:solidFill>
                  <a:srgbClr val="342E25"/>
                </a:solidFill>
                <a:latin typeface="Arial"/>
                <a:ea typeface="Arial"/>
                <a:cs typeface="Arial"/>
              </a:defRPr>
            </a:pPr>
            <a:r>
              <a:rPr sz="1650" b="0">
                <a:solidFill>
                  <a:srgbClr val="342E25"/>
                </a:solidFill>
                <a:latin typeface="Arial"/>
                <a:ea typeface="Arial"/>
                <a:cs typeface="Arial"/>
              </a:rPr>
              <a:t>WASD / arrows: move     E: examine</a:t>
            </a:r>
          </a:p>
          <a:p xmlns:a="http://schemas.openxmlformats.org/drawingml/2006/main">
            <a:pPr>
              <a:defRPr sz="1650" b="0">
                <a:solidFill>
                  <a:srgbClr val="342E25"/>
                </a:solidFill>
                <a:latin typeface="Arial"/>
                <a:ea typeface="Arial"/>
                <a:cs typeface="Arial"/>
              </a:defRPr>
            </a:pPr>
            <a:r>
              <a:rPr sz="1650" b="0">
                <a:solidFill>
                  <a:srgbClr val="342E25"/>
                </a:solidFill>
                <a:latin typeface="Arial"/>
                <a:ea typeface="Arial"/>
                <a:cs typeface="Arial"/>
              </a:rPr>
              <a:t>N: case notes     Esc: close or pause</a:t>
            </a:r>
          </a:p>
        </p:txBody>
      </p:sp>
    </p:spTree>
    <p:extLst>
      <p:ext uri="{BB962C8B-B14F-4D97-AF65-F5344CB8AC3E}">
        <p14:creationId xmlns:p14="http://schemas.microsoft.com/office/powerpoint/2010/main" val="903911790"/>
      </p:ext>
    </p:extLst>
  </p:cSld>
</p:sld>
</file>

<file path=ppt/slides/slide3.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4A2B96-A23E-42C8-A1F9-FEB9233752DA}"/>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Choosing what to inspect</a:t>
            </a:r>
          </a:p>
        </p:txBody>
      </p:sp>
      <p:sp>
        <p:nvSpPr>
          <p:cNvPr id="2" name="">
            <a:extLst xmlns:a="http://schemas.openxmlformats.org/drawingml/2006/main">
              <a:ext uri="{FF2B5EF4-FFF2-40B4-BE49-F238E27FC236}">
                <a16:creationId xmlns:a16="http://schemas.microsoft.com/office/drawing/2014/main" id="{DB9EB2D5-B8F8-4569-9AA1-8436A97C27B9}"/>
              </a:ext>
            </a:extLst>
          </p:cNvPr>
          <p:cNvSpPr>
            <a:spLocks xmlns:a="http://schemas.openxmlformats.org/drawingml/2006/main" noGrp="1"/>
          </p:cNvSpPr>
          <p:nvPr/>
        </p:nvSpPr>
        <p:spPr>
          <a:xfrm xmlns:a="http://schemas.openxmlformats.org/drawingml/2006/main">
            <a:off x="609600" y="1476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First impressions are free to read on every device.</a:t>
            </a:r>
          </a:p>
        </p:txBody>
      </p:sp>
      <p:sp>
        <p:nvSpPr>
          <p:cNvPr id="3" name="">
            <a:extLst xmlns:a="http://schemas.openxmlformats.org/drawingml/2006/main">
              <a:ext uri="{FF2B5EF4-FFF2-40B4-BE49-F238E27FC236}">
                <a16:creationId xmlns:a16="http://schemas.microsoft.com/office/drawing/2014/main" id="{2FA5F956-A9C0-4F48-9D89-55BC6911E2E6}"/>
              </a:ext>
            </a:extLst>
          </p:cNvPr>
          <p:cNvSpPr>
            <a:spLocks xmlns:a="http://schemas.openxmlformats.org/drawingml/2006/main" noGrp="1"/>
          </p:cNvSpPr>
          <p:nvPr/>
        </p:nvSpPr>
        <p:spPr>
          <a:xfrm xmlns:a="http://schemas.openxmlformats.org/drawingml/2006/main">
            <a:off x="609600" y="28098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Visible details and household habits suggest where to investigate.</a:t>
            </a:r>
          </a:p>
        </p:txBody>
      </p:sp>
      <p:sp>
        <p:nvSpPr>
          <p:cNvPr id="4" name="">
            <a:extLst xmlns:a="http://schemas.openxmlformats.org/drawingml/2006/main">
              <a:ext uri="{FF2B5EF4-FFF2-40B4-BE49-F238E27FC236}">
                <a16:creationId xmlns:a16="http://schemas.microsoft.com/office/drawing/2014/main" id="{5A8B2BBC-64DD-4F77-9FAD-57AA0182440A}"/>
              </a:ext>
            </a:extLst>
          </p:cNvPr>
          <p:cNvSpPr>
            <a:spLocks xmlns:a="http://schemas.openxmlformats.org/drawingml/2006/main" noGrp="1"/>
          </p:cNvSpPr>
          <p:nvPr/>
        </p:nvSpPr>
        <p:spPr>
          <a:xfrm xmlns:a="http://schemas.openxmlformats.org/drawingml/2006/main">
            <a:off x="609600" y="4143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Each case gives six detailed inspections to find three major problems.</a:t>
            </a:r>
          </a:p>
        </p:txBody>
      </p:sp>
      <p:pic>
        <p:nvPicPr>
          <p:cNvPr id="5" name="">
            <a:extLst xmlns:a="http://schemas.openxmlformats.org/drawingml/2006/main">
              <a:ext uri="{FF2B5EF4-FFF2-40B4-BE49-F238E27FC236}">
                <a16:creationId xmlns:a16="http://schemas.microsoft.com/office/drawing/2014/main" id="{B6534822-B8CA-4C7B-B31B-1F065701E42F}"/>
              </a:ext>
            </a:extLst>
          </p:cNvPr>
          <p:cNvPicPr>
            <a:picLocks xmlns:a="http://schemas.openxmlformats.org/drawingml/2006/main" noChangeAspect="1"/>
          </p:cNvPicPr>
          <p:nvPr/>
        </p:nvPicPr>
        <p:blipFill>
          <a:blip xmlns:r="http://schemas.openxmlformats.org/officeDocument/2006/relationships" xmlns:a="http://schemas.openxmlformats.org/drawingml/2006/main" r:embed="R793641548f92440c"/>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1762782744"/>
      </p:ext>
    </p:extLst>
  </p:cSld>
</p:sld>
</file>

<file path=ppt/slides/slide4.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BBFE5A5-C007-4EA0-901E-99E58DD5A58A}"/>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Evidence and corrective actions</a:t>
            </a:r>
          </a:p>
        </p:txBody>
      </p:sp>
      <p:sp>
        <p:nvSpPr>
          <p:cNvPr id="2" name="">
            <a:extLst xmlns:a="http://schemas.openxmlformats.org/drawingml/2006/main">
              <a:ext uri="{FF2B5EF4-FFF2-40B4-BE49-F238E27FC236}">
                <a16:creationId xmlns:a16="http://schemas.microsoft.com/office/drawing/2014/main" id="{27C6F1C7-DF21-4A06-9EC4-4A91ACBEBD48}"/>
              </a:ext>
            </a:extLst>
          </p:cNvPr>
          <p:cNvSpPr>
            <a:spLocks xmlns:a="http://schemas.openxmlformats.org/drawingml/2006/main" noGrp="1"/>
          </p:cNvSpPr>
          <p:nvPr/>
        </p:nvSpPr>
        <p:spPr>
          <a:xfrm xmlns:a="http://schemas.openxmlformats.org/drawingml/2006/main">
            <a:off x="609600" y="1476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An inspection reveals watts, operating time and recent usage history.</a:t>
            </a:r>
          </a:p>
        </p:txBody>
      </p:sp>
      <p:sp>
        <p:nvSpPr>
          <p:cNvPr id="3" name="">
            <a:extLst xmlns:a="http://schemas.openxmlformats.org/drawingml/2006/main">
              <a:ext uri="{FF2B5EF4-FFF2-40B4-BE49-F238E27FC236}">
                <a16:creationId xmlns:a16="http://schemas.microsoft.com/office/drawing/2014/main" id="{71619628-AF4E-49C0-9F6F-DB88EDCE3B62}"/>
              </a:ext>
            </a:extLst>
          </p:cNvPr>
          <p:cNvSpPr>
            <a:spLocks xmlns:a="http://schemas.openxmlformats.org/drawingml/2006/main" noGrp="1"/>
          </p:cNvSpPr>
          <p:nvPr/>
        </p:nvSpPr>
        <p:spPr>
          <a:xfrm xmlns:a="http://schemas.openxmlformats.org/drawingml/2006/main">
            <a:off x="609600" y="28098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player compares the readings with the household routine, then chooses an action.</a:t>
            </a:r>
          </a:p>
        </p:txBody>
      </p:sp>
      <p:sp>
        <p:nvSpPr>
          <p:cNvPr id="4" name="">
            <a:extLst xmlns:a="http://schemas.openxmlformats.org/drawingml/2006/main">
              <a:ext uri="{FF2B5EF4-FFF2-40B4-BE49-F238E27FC236}">
                <a16:creationId xmlns:a16="http://schemas.microsoft.com/office/drawing/2014/main" id="{2CF8B8E9-0F61-4EF6-BB1A-8C0AD0EDE300}"/>
              </a:ext>
            </a:extLst>
          </p:cNvPr>
          <p:cNvSpPr>
            <a:spLocks xmlns:a="http://schemas.openxmlformats.org/drawingml/2006/main" noGrp="1"/>
          </p:cNvSpPr>
          <p:nvPr/>
        </p:nvSpPr>
        <p:spPr>
          <a:xfrm xmlns:a="http://schemas.openxmlformats.org/drawingml/2006/main">
            <a:off x="609600" y="4143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Saved readings and case notes can be revisited without spending another inspection.</a:t>
            </a:r>
          </a:p>
        </p:txBody>
      </p:sp>
      <p:pic>
        <p:nvPicPr>
          <p:cNvPr id="5" name="">
            <a:extLst xmlns:a="http://schemas.openxmlformats.org/drawingml/2006/main">
              <a:ext uri="{FF2B5EF4-FFF2-40B4-BE49-F238E27FC236}">
                <a16:creationId xmlns:a16="http://schemas.microsoft.com/office/drawing/2014/main" id="{687EAE4A-CD12-4A01-999C-7D94FE38FCE1}"/>
              </a:ext>
            </a:extLst>
          </p:cNvPr>
          <p:cNvPicPr>
            <a:picLocks xmlns:a="http://schemas.openxmlformats.org/drawingml/2006/main" noChangeAspect="1"/>
          </p:cNvPicPr>
          <p:nvPr/>
        </p:nvPicPr>
        <p:blipFill>
          <a:blip xmlns:r="http://schemas.openxmlformats.org/officeDocument/2006/relationships" xmlns:a="http://schemas.openxmlformats.org/drawingml/2006/main" r:embed="Rc8b7653e9d964fd0"/>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1451803924"/>
      </p:ext>
    </p:extLst>
  </p:cSld>
</p:sld>
</file>

<file path=ppt/slides/slide5.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FB0A08D-5CF3-464F-8FEC-A360B04057A9}"/>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Social good in the gameplay</a:t>
            </a:r>
          </a:p>
        </p:txBody>
      </p:sp>
      <p:sp>
        <p:nvSpPr>
          <p:cNvPr id="2" name="">
            <a:extLst xmlns:a="http://schemas.openxmlformats.org/drawingml/2006/main">
              <a:ext uri="{FF2B5EF4-FFF2-40B4-BE49-F238E27FC236}">
                <a16:creationId xmlns:a16="http://schemas.microsoft.com/office/drawing/2014/main" id="{B4D990B3-F34E-4B62-A810-1831E1859FD3}"/>
              </a:ext>
            </a:extLst>
          </p:cNvPr>
          <p:cNvSpPr>
            <a:spLocks xmlns:a="http://schemas.openxmlformats.org/drawingml/2006/main" noGrp="1"/>
          </p:cNvSpPr>
          <p:nvPr/>
        </p:nvSpPr>
        <p:spPr>
          <a:xfrm xmlns:a="http://schemas.openxmlformats.org/drawingml/2006/main">
            <a:off x="609600" y="1438275"/>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SDG 7: efficient electricity use</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player identifies avoidable use and chooses a practical correction.</a:t>
            </a:r>
          </a:p>
        </p:txBody>
      </p:sp>
      <p:sp>
        <p:nvSpPr>
          <p:cNvPr id="3" name="">
            <a:extLst xmlns:a="http://schemas.openxmlformats.org/drawingml/2006/main">
              <a:ext uri="{FF2B5EF4-FFF2-40B4-BE49-F238E27FC236}">
                <a16:creationId xmlns:a16="http://schemas.microsoft.com/office/drawing/2014/main" id="{E8D805D5-ED54-4C2A-9C31-40C2E77EA97D}"/>
              </a:ext>
            </a:extLst>
          </p:cNvPr>
          <p:cNvSpPr>
            <a:spLocks xmlns:a="http://schemas.openxmlformats.org/drawingml/2006/main" noGrp="1"/>
          </p:cNvSpPr>
          <p:nvPr/>
        </p:nvSpPr>
        <p:spPr>
          <a:xfrm xmlns:a="http://schemas.openxmlformats.org/drawingml/2006/main">
            <a:off x="609600" y="2819400"/>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SDG 13: climate action</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Results connect electricity savings with estimated emissions avoided.</a:t>
            </a:r>
          </a:p>
        </p:txBody>
      </p:sp>
      <p:sp>
        <p:nvSpPr>
          <p:cNvPr id="4" name="">
            <a:extLst xmlns:a="http://schemas.openxmlformats.org/drawingml/2006/main">
              <a:ext uri="{FF2B5EF4-FFF2-40B4-BE49-F238E27FC236}">
                <a16:creationId xmlns:a16="http://schemas.microsoft.com/office/drawing/2014/main" id="{77CB3772-BF48-41EC-9A7C-00B597B57500}"/>
              </a:ext>
            </a:extLst>
          </p:cNvPr>
          <p:cNvSpPr>
            <a:spLocks xmlns:a="http://schemas.openxmlformats.org/drawingml/2006/main" noGrp="1"/>
          </p:cNvSpPr>
          <p:nvPr/>
        </p:nvSpPr>
        <p:spPr>
          <a:xfrm xmlns:a="http://schemas.openxmlformats.org/drawingml/2006/main">
            <a:off x="609600" y="4200525"/>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game teaches that power draw and operating time both matter.</a:t>
            </a:r>
          </a:p>
        </p:txBody>
      </p:sp>
      <p:pic>
        <p:nvPicPr>
          <p:cNvPr id="5" name="">
            <a:extLst xmlns:a="http://schemas.openxmlformats.org/drawingml/2006/main">
              <a:ext uri="{FF2B5EF4-FFF2-40B4-BE49-F238E27FC236}">
                <a16:creationId xmlns:a16="http://schemas.microsoft.com/office/drawing/2014/main" id="{14E5F27D-7FE9-4E01-98A0-8A51F0731FAB}"/>
              </a:ext>
            </a:extLst>
          </p:cNvPr>
          <p:cNvPicPr>
            <a:picLocks xmlns:a="http://schemas.openxmlformats.org/drawingml/2006/main" noChangeAspect="1"/>
          </p:cNvPicPr>
          <p:nvPr/>
        </p:nvPicPr>
        <p:blipFill>
          <a:blip xmlns:r="http://schemas.openxmlformats.org/officeDocument/2006/relationships" xmlns:a="http://schemas.openxmlformats.org/drawingml/2006/main" r:embed="Rf112dd6e398645d0"/>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1783498666"/>
      </p:ext>
    </p:extLst>
  </p:cSld>
</p:sld>
</file>

<file path=ppt/slides/slide6.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AFB034-6594-4B58-90DC-9EB65F071F57}"/>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Prototype II plan</a:t>
            </a:r>
          </a:p>
        </p:txBody>
      </p:sp>
      <p:sp>
        <p:nvSpPr>
          <p:cNvPr id="2" name="">
            <a:extLst xmlns:a="http://schemas.openxmlformats.org/drawingml/2006/main">
              <a:ext uri="{FF2B5EF4-FFF2-40B4-BE49-F238E27FC236}">
                <a16:creationId xmlns:a16="http://schemas.microsoft.com/office/drawing/2014/main" id="{DF905961-A75A-4898-8016-DB4A3A29EDEA}"/>
              </a:ext>
            </a:extLst>
          </p:cNvPr>
          <p:cNvSpPr>
            <a:spLocks xmlns:a="http://schemas.openxmlformats.org/drawingml/2006/main" noGrp="1"/>
          </p:cNvSpPr>
          <p:nvPr/>
        </p:nvSpPr>
        <p:spPr>
          <a:xfrm xmlns:a="http://schemas.openxmlformats.org/drawingml/2006/main">
            <a:off x="609600" y="14382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Current limits</a:t>
            </a:r>
          </a:p>
        </p:txBody>
      </p:sp>
      <p:sp>
        <p:nvSpPr>
          <p:cNvPr id="3" name="">
            <a:extLst xmlns:a="http://schemas.openxmlformats.org/drawingml/2006/main">
              <a:ext uri="{FF2B5EF4-FFF2-40B4-BE49-F238E27FC236}">
                <a16:creationId xmlns:a16="http://schemas.microsoft.com/office/drawing/2014/main" id="{86281183-FFB0-46B7-B11B-ED75598D4D67}"/>
              </a:ext>
            </a:extLst>
          </p:cNvPr>
          <p:cNvSpPr>
            <a:spLocks xmlns:a="http://schemas.openxmlformats.org/drawingml/2006/main" noGrp="1"/>
          </p:cNvSpPr>
          <p:nvPr/>
        </p:nvSpPr>
        <p:spPr>
          <a:xfrm xmlns:a="http://schemas.openxmlformats.org/drawingml/2006/main">
            <a:off x="609600" y="21431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One house layout and three authored cases.</a:t>
            </a:r>
          </a:p>
        </p:txBody>
      </p:sp>
      <p:sp>
        <p:nvSpPr>
          <p:cNvPr id="4" name="">
            <a:extLst xmlns:a="http://schemas.openxmlformats.org/drawingml/2006/main">
              <a:ext uri="{FF2B5EF4-FFF2-40B4-BE49-F238E27FC236}">
                <a16:creationId xmlns:a16="http://schemas.microsoft.com/office/drawing/2014/main" id="{76F1189A-FE7E-40F3-B06F-9A105BE42D84}"/>
              </a:ext>
            </a:extLst>
          </p:cNvPr>
          <p:cNvSpPr>
            <a:spLocks xmlns:a="http://schemas.openxmlformats.org/drawingml/2006/main" noGrp="1"/>
          </p:cNvSpPr>
          <p:nvPr/>
        </p:nvSpPr>
        <p:spPr>
          <a:xfrm xmlns:a="http://schemas.openxmlformats.org/drawingml/2006/main">
            <a:off x="609600" y="32099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Basic appliance feedback and a small evidence set.</a:t>
            </a:r>
          </a:p>
        </p:txBody>
      </p:sp>
      <p:sp>
        <p:nvSpPr>
          <p:cNvPr id="5" name="">
            <a:extLst xmlns:a="http://schemas.openxmlformats.org/drawingml/2006/main">
              <a:ext uri="{FF2B5EF4-FFF2-40B4-BE49-F238E27FC236}">
                <a16:creationId xmlns:a16="http://schemas.microsoft.com/office/drawing/2014/main" id="{8B9E4215-8252-4DD2-B5B6-C23E840F97D6}"/>
              </a:ext>
            </a:extLst>
          </p:cNvPr>
          <p:cNvSpPr>
            <a:spLocks xmlns:a="http://schemas.openxmlformats.org/drawingml/2006/main" noGrp="1"/>
          </p:cNvSpPr>
          <p:nvPr/>
        </p:nvSpPr>
        <p:spPr>
          <a:xfrm xmlns:a="http://schemas.openxmlformats.org/drawingml/2006/main">
            <a:off x="609600" y="42767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No saved progression between sessions.</a:t>
            </a:r>
          </a:p>
        </p:txBody>
      </p:sp>
      <p:sp>
        <p:nvSpPr>
          <p:cNvPr id="6" name="">
            <a:extLst xmlns:a="http://schemas.openxmlformats.org/drawingml/2006/main">
              <a:ext uri="{FF2B5EF4-FFF2-40B4-BE49-F238E27FC236}">
                <a16:creationId xmlns:a16="http://schemas.microsoft.com/office/drawing/2014/main" id="{C6867539-BE16-4806-A2CA-A8CFE94991EB}"/>
              </a:ext>
            </a:extLst>
          </p:cNvPr>
          <p:cNvSpPr>
            <a:spLocks xmlns:a="http://schemas.openxmlformats.org/drawingml/2006/main" noGrp="1"/>
          </p:cNvSpPr>
          <p:nvPr/>
        </p:nvSpPr>
        <p:spPr>
          <a:xfrm xmlns:a="http://schemas.openxmlformats.org/drawingml/2006/main">
            <a:off x="64770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Planned next steps</a:t>
            </a:r>
          </a:p>
        </p:txBody>
      </p:sp>
      <p:sp>
        <p:nvSpPr>
          <p:cNvPr id="7" name="">
            <a:extLst xmlns:a="http://schemas.openxmlformats.org/drawingml/2006/main">
              <a:ext uri="{FF2B5EF4-FFF2-40B4-BE49-F238E27FC236}">
                <a16:creationId xmlns:a16="http://schemas.microsoft.com/office/drawing/2014/main" id="{09F445F0-8169-4541-AEF8-2197DA80CFB6}"/>
              </a:ext>
            </a:extLst>
          </p:cNvPr>
          <p:cNvSpPr>
            <a:spLocks xmlns:a="http://schemas.openxmlformats.org/drawingml/2006/main" noGrp="1"/>
          </p:cNvSpPr>
          <p:nvPr/>
        </p:nvSpPr>
        <p:spPr>
          <a:xfrm xmlns:a="http://schemas.openxmlformats.org/drawingml/2006/main">
            <a:off x="6477000" y="2143125"/>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Playtest the clues and inspection budget, then tune difficulty.</a:t>
            </a:r>
          </a:p>
        </p:txBody>
      </p:sp>
      <p:sp>
        <p:nvSpPr>
          <p:cNvPr id="8" name="">
            <a:extLst xmlns:a="http://schemas.openxmlformats.org/drawingml/2006/main">
              <a:ext uri="{FF2B5EF4-FFF2-40B4-BE49-F238E27FC236}">
                <a16:creationId xmlns:a16="http://schemas.microsoft.com/office/drawing/2014/main" id="{FAD509F8-FACE-4969-8285-C9421F709541}"/>
              </a:ext>
            </a:extLst>
          </p:cNvPr>
          <p:cNvSpPr>
            <a:spLocks xmlns:a="http://schemas.openxmlformats.org/drawingml/2006/main" noGrp="1"/>
          </p:cNvSpPr>
          <p:nvPr/>
        </p:nvSpPr>
        <p:spPr>
          <a:xfrm xmlns:a="http://schemas.openxmlformats.org/drawingml/2006/main">
            <a:off x="6477000" y="3333750"/>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Add household layouts and more varied cases.</a:t>
            </a:r>
          </a:p>
        </p:txBody>
      </p:sp>
      <p:sp>
        <p:nvSpPr>
          <p:cNvPr id="9" name="">
            <a:extLst xmlns:a="http://schemas.openxmlformats.org/drawingml/2006/main">
              <a:ext uri="{FF2B5EF4-FFF2-40B4-BE49-F238E27FC236}">
                <a16:creationId xmlns:a16="http://schemas.microsoft.com/office/drawing/2014/main" id="{D6B057E9-AE4B-4248-AF9C-8C00518DC11F}"/>
              </a:ext>
            </a:extLst>
          </p:cNvPr>
          <p:cNvSpPr>
            <a:spLocks xmlns:a="http://schemas.openxmlformats.org/drawingml/2006/main" noGrp="1"/>
          </p:cNvSpPr>
          <p:nvPr/>
        </p:nvSpPr>
        <p:spPr>
          <a:xfrm xmlns:a="http://schemas.openxmlformats.org/drawingml/2006/main">
            <a:off x="6477000" y="4524375"/>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Show clearer changes after a fix and add saved case progress.</a:t>
            </a:r>
          </a:p>
        </p:txBody>
      </p:sp>
    </p:spTree>
    <p:extLst>
      <p:ext uri="{BB962C8B-B14F-4D97-AF65-F5344CB8AC3E}">
        <p14:creationId xmlns:p14="http://schemas.microsoft.com/office/powerpoint/2010/main" val="1311949541"/>
      </p:ext>
    </p:extLst>
  </p:cSld>
</p:sld>
</file>

<file path=ppt/slides/slide7.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A5850C-968F-427D-9C56-410A206463C6}"/>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Developer contribution and AI usage</a:t>
            </a:r>
          </a:p>
        </p:txBody>
      </p:sp>
      <p:sp>
        <p:nvSpPr>
          <p:cNvPr id="2" name="">
            <a:extLst xmlns:a="http://schemas.openxmlformats.org/drawingml/2006/main">
              <a:ext uri="{FF2B5EF4-FFF2-40B4-BE49-F238E27FC236}">
                <a16:creationId xmlns:a16="http://schemas.microsoft.com/office/drawing/2014/main" id="{FA7725EF-2200-4A63-8583-8AF61745EB3B}"/>
              </a:ext>
            </a:extLst>
          </p:cNvPr>
          <p:cNvSpPr>
            <a:spLocks xmlns:a="http://schemas.openxmlformats.org/drawingml/2006/main" noGrp="1"/>
          </p:cNvSpPr>
          <p:nvPr/>
        </p:nvSpPr>
        <p:spPr>
          <a:xfrm xmlns:a="http://schemas.openxmlformats.org/drawingml/2006/main">
            <a:off x="6096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Rolands Leja</a:t>
            </a:r>
          </a:p>
        </p:txBody>
      </p:sp>
      <p:sp>
        <p:nvSpPr>
          <p:cNvPr id="3" name="">
            <a:extLst xmlns:a="http://schemas.openxmlformats.org/drawingml/2006/main">
              <a:ext uri="{FF2B5EF4-FFF2-40B4-BE49-F238E27FC236}">
                <a16:creationId xmlns:a16="http://schemas.microsoft.com/office/drawing/2014/main" id="{0FE06797-F32D-45B2-BBD1-6C75E701C68F}"/>
              </a:ext>
            </a:extLst>
          </p:cNvPr>
          <p:cNvSpPr>
            <a:spLocks xmlns:a="http://schemas.openxmlformats.org/drawingml/2006/main" noGrp="1"/>
          </p:cNvSpPr>
          <p:nvPr/>
        </p:nvSpPr>
        <p:spPr>
          <a:xfrm xmlns:a="http://schemas.openxmlformats.org/drawingml/2006/main">
            <a:off x="609600" y="2143125"/>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Game concept and social good focus.</a:t>
            </a:r>
          </a:p>
        </p:txBody>
      </p:sp>
      <p:sp>
        <p:nvSpPr>
          <p:cNvPr id="4" name="">
            <a:extLst xmlns:a="http://schemas.openxmlformats.org/drawingml/2006/main">
              <a:ext uri="{FF2B5EF4-FFF2-40B4-BE49-F238E27FC236}">
                <a16:creationId xmlns:a16="http://schemas.microsoft.com/office/drawing/2014/main" id="{3CA2AD14-53CC-49AF-8BA7-95B5DB74B203}"/>
              </a:ext>
            </a:extLst>
          </p:cNvPr>
          <p:cNvSpPr>
            <a:spLocks xmlns:a="http://schemas.openxmlformats.org/drawingml/2006/main" noGrp="1"/>
          </p:cNvSpPr>
          <p:nvPr/>
        </p:nvSpPr>
        <p:spPr>
          <a:xfrm xmlns:a="http://schemas.openxmlformats.org/drawingml/2006/main">
            <a:off x="609600" y="3200400"/>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Design decisions, scene editing, asset placement and playtesting.</a:t>
            </a:r>
          </a:p>
        </p:txBody>
      </p:sp>
      <p:sp>
        <p:nvSpPr>
          <p:cNvPr id="5" name="">
            <a:extLst xmlns:a="http://schemas.openxmlformats.org/drawingml/2006/main">
              <a:ext uri="{FF2B5EF4-FFF2-40B4-BE49-F238E27FC236}">
                <a16:creationId xmlns:a16="http://schemas.microsoft.com/office/drawing/2014/main" id="{9465CC34-8F51-4345-9A1A-07EC0A360BFB}"/>
              </a:ext>
            </a:extLst>
          </p:cNvPr>
          <p:cNvSpPr>
            <a:spLocks xmlns:a="http://schemas.openxmlformats.org/drawingml/2006/main" noGrp="1"/>
          </p:cNvSpPr>
          <p:nvPr/>
        </p:nvSpPr>
        <p:spPr>
          <a:xfrm xmlns:a="http://schemas.openxmlformats.org/drawingml/2006/main">
            <a:off x="609600" y="4257675"/>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Solo project. No group responsibilities to divide.</a:t>
            </a:r>
          </a:p>
        </p:txBody>
      </p:sp>
      <p:sp>
        <p:nvSpPr>
          <p:cNvPr id="6" name="">
            <a:extLst xmlns:a="http://schemas.openxmlformats.org/drawingml/2006/main">
              <a:ext uri="{FF2B5EF4-FFF2-40B4-BE49-F238E27FC236}">
                <a16:creationId xmlns:a16="http://schemas.microsoft.com/office/drawing/2014/main" id="{EBEEE588-A71C-4550-A4A6-88AFC20E6F5B}"/>
              </a:ext>
            </a:extLst>
          </p:cNvPr>
          <p:cNvSpPr>
            <a:spLocks xmlns:a="http://schemas.openxmlformats.org/drawingml/2006/main" noGrp="1"/>
          </p:cNvSpPr>
          <p:nvPr/>
        </p:nvSpPr>
        <p:spPr>
          <a:xfrm xmlns:a="http://schemas.openxmlformats.org/drawingml/2006/main">
            <a:off x="64770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OpenAI Codex</a:t>
            </a:r>
          </a:p>
        </p:txBody>
      </p:sp>
      <p:sp>
        <p:nvSpPr>
          <p:cNvPr id="7" name="">
            <a:extLst xmlns:a="http://schemas.openxmlformats.org/drawingml/2006/main">
              <a:ext uri="{FF2B5EF4-FFF2-40B4-BE49-F238E27FC236}">
                <a16:creationId xmlns:a16="http://schemas.microsoft.com/office/drawing/2014/main" id="{F844B39E-0396-4327-8033-364502FFF9E8}"/>
              </a:ext>
            </a:extLst>
          </p:cNvPr>
          <p:cNvSpPr>
            <a:spLocks xmlns:a="http://schemas.openxmlformats.org/drawingml/2006/main" noGrp="1"/>
          </p:cNvSpPr>
          <p:nvPr/>
        </p:nvSpPr>
        <p:spPr>
          <a:xfrm xmlns:a="http://schemas.openxmlformats.org/drawingml/2006/main">
            <a:off x="6477000" y="2143125"/>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Assisted with C# implementation, debugging and script cleanup.</a:t>
            </a:r>
          </a:p>
        </p:txBody>
      </p:sp>
      <p:sp>
        <p:nvSpPr>
          <p:cNvPr id="8" name="">
            <a:extLst xmlns:a="http://schemas.openxmlformats.org/drawingml/2006/main">
              <a:ext uri="{FF2B5EF4-FFF2-40B4-BE49-F238E27FC236}">
                <a16:creationId xmlns:a16="http://schemas.microsoft.com/office/drawing/2014/main" id="{97E1A0EF-DE51-4424-9A46-0B34C53245A3}"/>
              </a:ext>
            </a:extLst>
          </p:cNvPr>
          <p:cNvSpPr>
            <a:spLocks xmlns:a="http://schemas.openxmlformats.org/drawingml/2006/main" noGrp="1"/>
          </p:cNvSpPr>
          <p:nvPr/>
        </p:nvSpPr>
        <p:spPr>
          <a:xfrm xmlns:a="http://schemas.openxmlformats.org/drawingml/2006/main">
            <a:off x="6477000" y="3200400"/>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Helped write JSON cases, device clues and UI text.</a:t>
            </a:r>
          </a:p>
        </p:txBody>
      </p:sp>
      <p:sp>
        <p:nvSpPr>
          <p:cNvPr id="9" name="">
            <a:extLst xmlns:a="http://schemas.openxmlformats.org/drawingml/2006/main">
              <a:ext uri="{FF2B5EF4-FFF2-40B4-BE49-F238E27FC236}">
                <a16:creationId xmlns:a16="http://schemas.microsoft.com/office/drawing/2014/main" id="{1C53A5A6-E52F-4E9C-8E9B-D2D38EF0E797}"/>
              </a:ext>
            </a:extLst>
          </p:cNvPr>
          <p:cNvSpPr>
            <a:spLocks xmlns:a="http://schemas.openxmlformats.org/drawingml/2006/main" noGrp="1"/>
          </p:cNvSpPr>
          <p:nvPr/>
        </p:nvSpPr>
        <p:spPr>
          <a:xfrm xmlns:a="http://schemas.openxmlformats.org/drawingml/2006/main">
            <a:off x="6477000" y="4257675"/>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Prepared documentation and this presentation with AI assistance.</a:t>
            </a:r>
          </a:p>
        </p:txBody>
      </p:sp>
      <p:sp>
        <p:nvSpPr>
          <p:cNvPr id="10" name="">
            <a:extLst xmlns:a="http://schemas.openxmlformats.org/drawingml/2006/main">
              <a:ext uri="{FF2B5EF4-FFF2-40B4-BE49-F238E27FC236}">
                <a16:creationId xmlns:a16="http://schemas.microsoft.com/office/drawing/2014/main" id="{EF2F07E1-1BC2-4087-85E1-CE4D14958940}"/>
              </a:ext>
            </a:extLst>
          </p:cNvPr>
          <p:cNvSpPr>
            <a:spLocks xmlns:a="http://schemas.openxmlformats.org/drawingml/2006/main" noGrp="1"/>
          </p:cNvSpPr>
          <p:nvPr/>
        </p:nvSpPr>
        <p:spPr>
          <a:xfrm xmlns:a="http://schemas.openxmlformats.org/drawingml/2006/main">
            <a:off x="609600" y="60198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756D5D"/>
                </a:solidFill>
                <a:latin typeface="Arial"/>
                <a:ea typeface="Arial"/>
                <a:cs typeface="Arial"/>
              </a:defRPr>
            </a:defPPr>
            <a:lvl1pPr>
              <a:defRPr sz="1650" b="0">
                <a:solidFill>
                  <a:srgbClr val="756D5D"/>
                </a:solidFill>
                <a:latin typeface="Arial"/>
                <a:ea typeface="Arial"/>
                <a:cs typeface="Arial"/>
              </a:defRPr>
            </a:lvl1pPr>
            <a:lvl2pPr>
              <a:defRPr sz="1650" b="0">
                <a:solidFill>
                  <a:srgbClr val="756D5D"/>
                </a:solidFill>
                <a:latin typeface="Arial"/>
                <a:ea typeface="Arial"/>
                <a:cs typeface="Arial"/>
              </a:defRPr>
            </a:lvl2pPr>
            <a:lvl3pPr>
              <a:defRPr sz="1650" b="0">
                <a:solidFill>
                  <a:srgbClr val="756D5D"/>
                </a:solidFill>
                <a:latin typeface="Arial"/>
                <a:ea typeface="Arial"/>
                <a:cs typeface="Arial"/>
              </a:defRPr>
            </a:lvl3pPr>
            <a:lvl4pPr>
              <a:defRPr sz="1650" b="0">
                <a:solidFill>
                  <a:srgbClr val="756D5D"/>
                </a:solidFill>
                <a:latin typeface="Arial"/>
                <a:ea typeface="Arial"/>
                <a:cs typeface="Arial"/>
              </a:defRPr>
            </a:lvl4pPr>
            <a:lvl5pPr>
              <a:defRPr sz="1650" b="0">
                <a:solidFill>
                  <a:srgbClr val="756D5D"/>
                </a:solidFill>
                <a:latin typeface="Arial"/>
                <a:ea typeface="Arial"/>
                <a:cs typeface="Arial"/>
              </a:defRPr>
            </a:lvl5pPr>
            <a:lvl6pPr>
              <a:defRPr sz="1650" b="0">
                <a:solidFill>
                  <a:srgbClr val="756D5D"/>
                </a:solidFill>
                <a:latin typeface="Arial"/>
                <a:ea typeface="Arial"/>
                <a:cs typeface="Arial"/>
              </a:defRPr>
            </a:lvl6pPr>
            <a:lvl7pPr>
              <a:defRPr sz="1650" b="0">
                <a:solidFill>
                  <a:srgbClr val="756D5D"/>
                </a:solidFill>
                <a:latin typeface="Arial"/>
                <a:ea typeface="Arial"/>
                <a:cs typeface="Arial"/>
              </a:defRPr>
            </a:lvl7pPr>
            <a:lvl8pPr>
              <a:defRPr sz="1650" b="0">
                <a:solidFill>
                  <a:srgbClr val="756D5D"/>
                </a:solidFill>
                <a:latin typeface="Arial"/>
                <a:ea typeface="Arial"/>
                <a:cs typeface="Arial"/>
              </a:defRPr>
            </a:lvl8pPr>
            <a:lvl9pPr>
              <a:defRPr sz="1650" b="0">
                <a:solidFill>
                  <a:srgbClr val="756D5D"/>
                </a:solidFill>
                <a:latin typeface="Arial"/>
                <a:ea typeface="Arial"/>
                <a:cs typeface="Arial"/>
              </a:defRPr>
            </a:lvl9pPr>
          </a:lstStyle>
          <a:p xmlns:a="http://schemas.openxmlformats.org/drawingml/2006/main">
            <a:pPr>
              <a:defRPr sz="1650" b="0">
                <a:solidFill>
                  <a:srgbClr val="756D5D"/>
                </a:solidFill>
                <a:latin typeface="Arial"/>
                <a:ea typeface="Arial"/>
                <a:cs typeface="Arial"/>
              </a:defRPr>
            </a:pPr>
            <a:r>
              <a:rPr sz="1650" b="0">
                <a:solidFill>
                  <a:srgbClr val="756D5D"/>
                </a:solidFill>
                <a:latin typeface="Arial"/>
                <a:ea typeface="Arial"/>
                <a:cs typeface="Arial"/>
              </a:rPr>
              <a:t>The game uses authored data. It does not call a generative AI service during play.</a:t>
            </a:r>
          </a:p>
        </p:txBody>
      </p:sp>
    </p:spTree>
    <p:extLst>
      <p:ext uri="{BB962C8B-B14F-4D97-AF65-F5344CB8AC3E}">
        <p14:creationId xmlns:p14="http://schemas.microsoft.com/office/powerpoint/2010/main" val="1636309643"/>
      </p:ext>
    </p:extLst>
  </p:cSld>
</p:sld>
</file>

<file path=ppt/slides/slide8.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6AC5738-DC00-416D-AA54-0C85E4995033}"/>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Running the prototype</a:t>
            </a:r>
          </a:p>
        </p:txBody>
      </p:sp>
      <p:sp>
        <p:nvSpPr>
          <p:cNvPr id="2" name="">
            <a:extLst xmlns:a="http://schemas.openxmlformats.org/drawingml/2006/main">
              <a:ext uri="{FF2B5EF4-FFF2-40B4-BE49-F238E27FC236}">
                <a16:creationId xmlns:a16="http://schemas.microsoft.com/office/drawing/2014/main" id="{6563C567-D269-4807-9CDE-F0919442ED29}"/>
              </a:ext>
            </a:extLst>
          </p:cNvPr>
          <p:cNvSpPr>
            <a:spLocks xmlns:a="http://schemas.openxmlformats.org/drawingml/2006/main" noGrp="1"/>
          </p:cNvSpPr>
          <p:nvPr/>
        </p:nvSpPr>
        <p:spPr>
          <a:xfrm xmlns:a="http://schemas.openxmlformats.org/drawingml/2006/main">
            <a:off x="609600" y="13525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514A35"/>
                </a:solidFill>
                <a:latin typeface="Arial"/>
                <a:ea typeface="Arial"/>
                <a:cs typeface="Arial"/>
              </a:defRPr>
            </a:defPPr>
            <a:lvl1pPr>
              <a:defRPr sz="2550" b="1">
                <a:solidFill>
                  <a:srgbClr val="514A35"/>
                </a:solidFill>
                <a:latin typeface="Arial"/>
                <a:ea typeface="Arial"/>
                <a:cs typeface="Arial"/>
              </a:defRPr>
            </a:lvl1pPr>
            <a:lvl2pPr>
              <a:defRPr sz="2550" b="1">
                <a:solidFill>
                  <a:srgbClr val="514A35"/>
                </a:solidFill>
                <a:latin typeface="Arial"/>
                <a:ea typeface="Arial"/>
                <a:cs typeface="Arial"/>
              </a:defRPr>
            </a:lvl2pPr>
            <a:lvl3pPr>
              <a:defRPr sz="2550" b="1">
                <a:solidFill>
                  <a:srgbClr val="514A35"/>
                </a:solidFill>
                <a:latin typeface="Arial"/>
                <a:ea typeface="Arial"/>
                <a:cs typeface="Arial"/>
              </a:defRPr>
            </a:lvl3pPr>
            <a:lvl4pPr>
              <a:defRPr sz="2550" b="1">
                <a:solidFill>
                  <a:srgbClr val="514A35"/>
                </a:solidFill>
                <a:latin typeface="Arial"/>
                <a:ea typeface="Arial"/>
                <a:cs typeface="Arial"/>
              </a:defRPr>
            </a:lvl4pPr>
            <a:lvl5pPr>
              <a:defRPr sz="2550" b="1">
                <a:solidFill>
                  <a:srgbClr val="514A35"/>
                </a:solidFill>
                <a:latin typeface="Arial"/>
                <a:ea typeface="Arial"/>
                <a:cs typeface="Arial"/>
              </a:defRPr>
            </a:lvl5pPr>
            <a:lvl6pPr>
              <a:defRPr sz="2550" b="1">
                <a:solidFill>
                  <a:srgbClr val="514A35"/>
                </a:solidFill>
                <a:latin typeface="Arial"/>
                <a:ea typeface="Arial"/>
                <a:cs typeface="Arial"/>
              </a:defRPr>
            </a:lvl6pPr>
            <a:lvl7pPr>
              <a:defRPr sz="2550" b="1">
                <a:solidFill>
                  <a:srgbClr val="514A35"/>
                </a:solidFill>
                <a:latin typeface="Arial"/>
                <a:ea typeface="Arial"/>
                <a:cs typeface="Arial"/>
              </a:defRPr>
            </a:lvl7pPr>
            <a:lvl8pPr>
              <a:defRPr sz="2550" b="1">
                <a:solidFill>
                  <a:srgbClr val="514A35"/>
                </a:solidFill>
                <a:latin typeface="Arial"/>
                <a:ea typeface="Arial"/>
                <a:cs typeface="Arial"/>
              </a:defRPr>
            </a:lvl8pPr>
            <a:lvl9pPr>
              <a:defRPr sz="2550" b="1">
                <a:solidFill>
                  <a:srgbClr val="514A35"/>
                </a:solidFill>
                <a:latin typeface="Arial"/>
                <a:ea typeface="Arial"/>
                <a:cs typeface="Arial"/>
              </a:defRPr>
            </a:lvl9pPr>
          </a:lstStyle>
          <a:p xmlns:a="http://schemas.openxmlformats.org/drawingml/2006/main">
            <a:pPr>
              <a:defRPr sz="2550" b="1">
                <a:solidFill>
                  <a:srgbClr val="514A35"/>
                </a:solidFill>
                <a:latin typeface="Arial"/>
                <a:ea typeface="Arial"/>
                <a:cs typeface="Arial"/>
              </a:defRPr>
            </a:pPr>
            <a:r>
              <a:rPr sz="2550" b="1">
                <a:solidFill>
                  <a:srgbClr val="514A35"/>
                </a:solidFill>
                <a:latin typeface="Arial"/>
                <a:ea typeface="Arial"/>
                <a:cs typeface="Arial"/>
              </a:rPr>
              <a:t>github.com/RLeja/HiddenWatts</a:t>
            </a:r>
          </a:p>
        </p:txBody>
      </p:sp>
      <p:sp>
        <p:nvSpPr>
          <p:cNvPr id="3" name="">
            <a:extLst xmlns:a="http://schemas.openxmlformats.org/drawingml/2006/main">
              <a:ext uri="{FF2B5EF4-FFF2-40B4-BE49-F238E27FC236}">
                <a16:creationId xmlns:a16="http://schemas.microsoft.com/office/drawing/2014/main" id="{7F2FE56F-665D-4205-B862-5EA2A3A55C3B}"/>
              </a:ext>
            </a:extLst>
          </p:cNvPr>
          <p:cNvSpPr>
            <a:spLocks xmlns:a="http://schemas.openxmlformats.org/drawingml/2006/main" noGrp="1"/>
          </p:cNvSpPr>
          <p:nvPr/>
        </p:nvSpPr>
        <p:spPr>
          <a:xfrm xmlns:a="http://schemas.openxmlformats.org/drawingml/2006/main">
            <a:off x="609600" y="234315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1. Download or clone the public repository.</a:t>
            </a:r>
          </a:p>
        </p:txBody>
      </p:sp>
      <p:sp>
        <p:nvSpPr>
          <p:cNvPr id="4" name="">
            <a:extLst xmlns:a="http://schemas.openxmlformats.org/drawingml/2006/main">
              <a:ext uri="{FF2B5EF4-FFF2-40B4-BE49-F238E27FC236}">
                <a16:creationId xmlns:a16="http://schemas.microsoft.com/office/drawing/2014/main" id="{1106F75E-FF9B-4F19-AF8E-6CDC668C10D1}"/>
              </a:ext>
            </a:extLst>
          </p:cNvPr>
          <p:cNvSpPr>
            <a:spLocks xmlns:a="http://schemas.openxmlformats.org/drawingml/2006/main" noGrp="1"/>
          </p:cNvSpPr>
          <p:nvPr/>
        </p:nvSpPr>
        <p:spPr>
          <a:xfrm xmlns:a="http://schemas.openxmlformats.org/drawingml/2006/main">
            <a:off x="609600" y="315277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2. Install Godot 4.7.2 .NET and the .NET 8 SDK.</a:t>
            </a:r>
          </a:p>
        </p:txBody>
      </p:sp>
      <p:sp>
        <p:nvSpPr>
          <p:cNvPr id="5" name="">
            <a:extLst xmlns:a="http://schemas.openxmlformats.org/drawingml/2006/main">
              <a:ext uri="{FF2B5EF4-FFF2-40B4-BE49-F238E27FC236}">
                <a16:creationId xmlns:a16="http://schemas.microsoft.com/office/drawing/2014/main" id="{D8FB3D41-F566-4AFE-9401-96C01F8C8087}"/>
              </a:ext>
            </a:extLst>
          </p:cNvPr>
          <p:cNvSpPr>
            <a:spLocks xmlns:a="http://schemas.openxmlformats.org/drawingml/2006/main" noGrp="1"/>
          </p:cNvSpPr>
          <p:nvPr/>
        </p:nvSpPr>
        <p:spPr>
          <a:xfrm xmlns:a="http://schemas.openxmlformats.org/drawingml/2006/main">
            <a:off x="609600" y="39624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3. Import src/project.godot in Godot and build the C# project.</a:t>
            </a:r>
          </a:p>
        </p:txBody>
      </p:sp>
      <p:sp>
        <p:nvSpPr>
          <p:cNvPr id="6" name="">
            <a:extLst xmlns:a="http://schemas.openxmlformats.org/drawingml/2006/main">
              <a:ext uri="{FF2B5EF4-FFF2-40B4-BE49-F238E27FC236}">
                <a16:creationId xmlns:a16="http://schemas.microsoft.com/office/drawing/2014/main" id="{785B9253-83B4-4FBD-82CA-A3067094C9AA}"/>
              </a:ext>
            </a:extLst>
          </p:cNvPr>
          <p:cNvSpPr>
            <a:spLocks xmlns:a="http://schemas.openxmlformats.org/drawingml/2006/main" noGrp="1"/>
          </p:cNvSpPr>
          <p:nvPr/>
        </p:nvSpPr>
        <p:spPr>
          <a:xfrm xmlns:a="http://schemas.openxmlformats.org/drawingml/2006/main">
            <a:off x="609600" y="4772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4. Press F5, then choose Begin investigation.</a:t>
            </a:r>
          </a:p>
        </p:txBody>
      </p:sp>
      <p:sp>
        <p:nvSpPr>
          <p:cNvPr id="7" name="">
            <a:extLst xmlns:a="http://schemas.openxmlformats.org/drawingml/2006/main">
              <a:ext uri="{FF2B5EF4-FFF2-40B4-BE49-F238E27FC236}">
                <a16:creationId xmlns:a16="http://schemas.microsoft.com/office/drawing/2014/main" id="{6A1DE878-139A-4CB1-A22F-38E1BD19BC7C}"/>
              </a:ext>
            </a:extLst>
          </p:cNvPr>
          <p:cNvSpPr>
            <a:spLocks xmlns:a="http://schemas.openxmlformats.org/drawingml/2006/main" noGrp="1"/>
          </p:cNvSpPr>
          <p:nvPr/>
        </p:nvSpPr>
        <p:spPr>
          <a:xfrm xmlns:a="http://schemas.openxmlformats.org/drawingml/2006/main">
            <a:off x="609600" y="58483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756D5D"/>
                </a:solidFill>
                <a:latin typeface="Arial"/>
                <a:ea typeface="Arial"/>
                <a:cs typeface="Arial"/>
              </a:defRPr>
            </a:defPPr>
            <a:lvl1pPr>
              <a:defRPr sz="1800" b="0">
                <a:solidFill>
                  <a:srgbClr val="756D5D"/>
                </a:solidFill>
                <a:latin typeface="Arial"/>
                <a:ea typeface="Arial"/>
                <a:cs typeface="Arial"/>
              </a:defRPr>
            </a:lvl1pPr>
            <a:lvl2pPr>
              <a:defRPr sz="1800" b="0">
                <a:solidFill>
                  <a:srgbClr val="756D5D"/>
                </a:solidFill>
                <a:latin typeface="Arial"/>
                <a:ea typeface="Arial"/>
                <a:cs typeface="Arial"/>
              </a:defRPr>
            </a:lvl2pPr>
            <a:lvl3pPr>
              <a:defRPr sz="1800" b="0">
                <a:solidFill>
                  <a:srgbClr val="756D5D"/>
                </a:solidFill>
                <a:latin typeface="Arial"/>
                <a:ea typeface="Arial"/>
                <a:cs typeface="Arial"/>
              </a:defRPr>
            </a:lvl3pPr>
            <a:lvl4pPr>
              <a:defRPr sz="1800" b="0">
                <a:solidFill>
                  <a:srgbClr val="756D5D"/>
                </a:solidFill>
                <a:latin typeface="Arial"/>
                <a:ea typeface="Arial"/>
                <a:cs typeface="Arial"/>
              </a:defRPr>
            </a:lvl4pPr>
            <a:lvl5pPr>
              <a:defRPr sz="1800" b="0">
                <a:solidFill>
                  <a:srgbClr val="756D5D"/>
                </a:solidFill>
                <a:latin typeface="Arial"/>
                <a:ea typeface="Arial"/>
                <a:cs typeface="Arial"/>
              </a:defRPr>
            </a:lvl5pPr>
            <a:lvl6pPr>
              <a:defRPr sz="1800" b="0">
                <a:solidFill>
                  <a:srgbClr val="756D5D"/>
                </a:solidFill>
                <a:latin typeface="Arial"/>
                <a:ea typeface="Arial"/>
                <a:cs typeface="Arial"/>
              </a:defRPr>
            </a:lvl6pPr>
            <a:lvl7pPr>
              <a:defRPr sz="1800" b="0">
                <a:solidFill>
                  <a:srgbClr val="756D5D"/>
                </a:solidFill>
                <a:latin typeface="Arial"/>
                <a:ea typeface="Arial"/>
                <a:cs typeface="Arial"/>
              </a:defRPr>
            </a:lvl7pPr>
            <a:lvl8pPr>
              <a:defRPr sz="1800" b="0">
                <a:solidFill>
                  <a:srgbClr val="756D5D"/>
                </a:solidFill>
                <a:latin typeface="Arial"/>
                <a:ea typeface="Arial"/>
                <a:cs typeface="Arial"/>
              </a:defRPr>
            </a:lvl8pPr>
            <a:lvl9pPr>
              <a:defRPr sz="1800" b="0">
                <a:solidFill>
                  <a:srgbClr val="756D5D"/>
                </a:solidFill>
                <a:latin typeface="Arial"/>
                <a:ea typeface="Arial"/>
                <a:cs typeface="Arial"/>
              </a:defRPr>
            </a:lvl9pPr>
          </a:lstStyle>
          <a:p xmlns:a="http://schemas.openxmlformats.org/drawingml/2006/main">
            <a:pPr>
              <a:defRPr sz="1800" b="0">
                <a:solidFill>
                  <a:srgbClr val="756D5D"/>
                </a:solidFill>
                <a:latin typeface="Arial"/>
                <a:ea typeface="Arial"/>
                <a:cs typeface="Arial"/>
              </a:defRPr>
            </a:pPr>
            <a:r>
              <a:rPr sz="1800" b="0">
                <a:solidFill>
                  <a:srgbClr val="756D5D"/>
                </a:solidFill>
                <a:latin typeface="Arial"/>
                <a:ea typeface="Arial"/>
                <a:cs typeface="Arial"/>
              </a:rPr>
              <a:t>The README includes build commands, controls and a short demo walkthrough.</a:t>
            </a:r>
          </a:p>
        </p:txBody>
      </p:sp>
    </p:spTree>
    <p:extLst>
      <p:ext uri="{BB962C8B-B14F-4D97-AF65-F5344CB8AC3E}">
        <p14:creationId xmlns:p14="http://schemas.microsoft.com/office/powerpoint/2010/main" val="14685854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2026-10-28T10:05:21.2680000Z</dcterms:created>
  <dcterms:modified xsi:type="dcterms:W3CDTF">2026-10-28T10:05:21.2680000Z</dcterms:modified>
</coreProperties>
</file>