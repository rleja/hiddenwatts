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Developer identity and concept: supplied game proposal. Screenshot captured from the running local Godot project. This is a solo project with AI-assisted implementation, disclosed on slide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Implemented features checked against Player.cs, Investigation.cs, MainMenu.cs, house.tscn and scenarios.json. Screenshot shows the current playable household.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free PreInspectionHint comes from scenarios.json and appears before the Inspect button. Reading it does not reduce the inspection budget. The hint guides a decision without displaying a good/bad label.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Readings, History and Take action tabs are implemented in GameHud.cs. A correct action resolves a major problem or clears a normal device. Incorrect actions reduce the score.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SDG 7 and SDG 13 are the themes selected in the supplied proposal. The result screen implements energy, money and emissions savings. Values are illustrative scenario estimates, not measurements or verified learning outcomes. Calculations use 30 days, EUR 0.25/kWh and 0.20 kg CO2/kWh, stored per case in JSON. Scoring: +100 per major problem, +10 per unused inspection after a finding, -50 per incorrect action, -10 per non-major inspection, minimum zero.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Prototype II priorities based on the current implementation. These are future work, not claims of working features. The prototype currently has one house, three data-driven cases, static result feedback and no persistence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disclosure based on the development conversation: Codex assisted implementation, scenarios, UI, collision fixes, refactoring, documentation and presentation preparation. Human contributions reflect the supplied concept and the developer scene edits, testing and design direction. Sprite artwork comes from the supplied game assets. Other tools used for earlier proposal illustrations were not confirmed and are not attributed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64B7825-54F1-47BE-B39D-9D388B87625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A84A903-944B-42EF-AA53-84946558590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6EAA281-A432-4B52-8F3B-17CC67DAACD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138B7D4-568E-4761-BB99-48325C4417B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5ABBD41-88EA-4C6C-AE03-446153E7DE6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BA4B4FD-A9BB-4119-AEA2-EAEE8642C43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D56248A-972F-4693-BEC4-6EC7EE06D33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5CC3F447-20B0-495A-9412-3C246DB9BEE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829AD02-3DF1-4459-8885-BAA0C6E3175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273E3E7-467A-46E6-82E7-6200F022675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9D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83BCD-4723-4B7B-BCB8-6DE8CA46500D}"/>
              </a:ext>
            </a:extLst>
          </p:cNvPr>
          <p:cNvSpPr>
            <a:spLocks noGrp="1"/>
          </p:cNvSpPr>
          <p:nvPr/>
        </p:nvSpPr>
        <p:spPr>
          <a:xfrm>
            <a:off x="609600" y="438150"/>
            <a:ext cx="10972800" cy="685800"/>
          </a:xfrm>
          <a:prstGeom prst="rect">
            <a:avLst/>
          </a:prstGeom>
          <a:noFill/>
          <a:ln w="0">
            <a:noFill/>
          </a:ln>
        </p:spPr>
        <p:txBody>
          <a:bodyPr anchor="t"/>
          <a:lstStyle>
            <a:defPPr>
              <a:defRPr sz="3300" b="1">
                <a:solidFill>
                  <a:srgbClr val="342E25"/>
                </a:solidFill>
                <a:latin typeface="Arial"/>
                <a:ea typeface="Arial"/>
                <a:cs typeface="Arial"/>
              </a:defRPr>
            </a:defPPr>
            <a:lvl1pPr>
              <a:defRPr sz="3300" b="1">
                <a:solidFill>
                  <a:srgbClr val="342E25"/>
                </a:solidFill>
                <a:latin typeface="Arial"/>
                <a:ea typeface="Arial"/>
                <a:cs typeface="Arial"/>
              </a:defRPr>
            </a:lvl1pPr>
            <a:lvl2pPr>
              <a:defRPr sz="3300" b="1">
                <a:solidFill>
                  <a:srgbClr val="342E25"/>
                </a:solidFill>
                <a:latin typeface="Arial"/>
                <a:ea typeface="Arial"/>
                <a:cs typeface="Arial"/>
              </a:defRPr>
            </a:lvl2pPr>
            <a:lvl3pPr>
              <a:defRPr sz="3300" b="1">
                <a:solidFill>
                  <a:srgbClr val="342E25"/>
                </a:solidFill>
                <a:latin typeface="Arial"/>
                <a:ea typeface="Arial"/>
                <a:cs typeface="Arial"/>
              </a:defRPr>
            </a:lvl3pPr>
            <a:lvl4pPr>
              <a:defRPr sz="3300" b="1">
                <a:solidFill>
                  <a:srgbClr val="342E25"/>
                </a:solidFill>
                <a:latin typeface="Arial"/>
                <a:ea typeface="Arial"/>
                <a:cs typeface="Arial"/>
              </a:defRPr>
            </a:lvl4pPr>
            <a:lvl5pPr>
              <a:defRPr sz="3300" b="1">
                <a:solidFill>
                  <a:srgbClr val="342E25"/>
                </a:solidFill>
                <a:latin typeface="Arial"/>
                <a:ea typeface="Arial"/>
                <a:cs typeface="Arial"/>
              </a:defRPr>
            </a:lvl5pPr>
            <a:lvl6pPr>
              <a:defRPr sz="3300" b="1">
                <a:solidFill>
                  <a:srgbClr val="342E25"/>
                </a:solidFill>
                <a:latin typeface="Arial"/>
                <a:ea typeface="Arial"/>
                <a:cs typeface="Arial"/>
              </a:defRPr>
            </a:lvl6pPr>
            <a:lvl7pPr>
              <a:defRPr sz="3300" b="1">
                <a:solidFill>
                  <a:srgbClr val="342E25"/>
                </a:solidFill>
                <a:latin typeface="Arial"/>
                <a:ea typeface="Arial"/>
                <a:cs typeface="Arial"/>
              </a:defRPr>
            </a:lvl7pPr>
            <a:lvl8pPr>
              <a:defRPr sz="3300" b="1">
                <a:solidFill>
                  <a:srgbClr val="342E25"/>
                </a:solidFill>
                <a:latin typeface="Arial"/>
                <a:ea typeface="Arial"/>
                <a:cs typeface="Arial"/>
              </a:defRPr>
            </a:lvl8pPr>
            <a:lvl9pPr>
              <a:defRPr sz="3300" b="1">
                <a:solidFill>
                  <a:srgbClr val="342E25"/>
                </a:solidFill>
                <a:latin typeface="Arial"/>
                <a:ea typeface="Arial"/>
                <a:cs typeface="Arial"/>
              </a:defRPr>
            </a:lvl9pPr>
          </a:lstStyle>
          <a:p>
            <a:pPr>
              <a:defRPr sz="3300" b="1">
                <a:solidFill>
                  <a:srgbClr val="342E25"/>
                </a:solidFill>
                <a:latin typeface="Arial"/>
                <a:ea typeface="Arial"/>
                <a:cs typeface="Arial"/>
              </a:defRPr>
            </a:pPr>
            <a:r>
              <a:rPr sz="3300" b="1">
                <a:solidFill>
                  <a:srgbClr val="342E25"/>
                </a:solidFill>
                <a:latin typeface="Arial"/>
                <a:ea typeface="Arial"/>
                <a:cs typeface="Arial"/>
              </a:rPr>
              <a:t>Hidden Watts</a:t>
            </a:r>
          </a:p>
        </p:txBody>
      </p:sp>
      <p:sp>
        <p:nvSpPr>
          <p:cNvPr id="2" name="Rectangle 1">
            <a:extLst>
              <a:ext uri="{FF2B5EF4-FFF2-40B4-BE49-F238E27FC236}">
                <a16:creationId xmlns:a16="http://schemas.microsoft.com/office/drawing/2014/main" id="{741EB5F5-8BD1-4975-806D-6E3CB3AE0688}"/>
              </a:ext>
            </a:extLst>
          </p:cNvPr>
          <p:cNvSpPr>
            <a:spLocks noGrp="1"/>
          </p:cNvSpPr>
          <p:nvPr/>
        </p:nvSpPr>
        <p:spPr>
          <a:xfrm>
            <a:off x="609600" y="1285875"/>
            <a:ext cx="4095750" cy="571500"/>
          </a:xfrm>
          <a:prstGeom prst="rect">
            <a:avLst/>
          </a:prstGeom>
          <a:noFill/>
          <a:ln w="0">
            <a:noFill/>
          </a:ln>
        </p:spPr>
        <p:txBody>
          <a:bodyPr anchor="t"/>
          <a:lstStyle>
            <a:defPPr>
              <a:defRPr sz="2400" b="0">
                <a:solidFill>
                  <a:srgbClr val="342E25"/>
                </a:solidFill>
                <a:latin typeface="Arial"/>
                <a:ea typeface="Arial"/>
                <a:cs typeface="Arial"/>
              </a:defRPr>
            </a:defPPr>
            <a:lvl1pPr>
              <a:defRPr sz="2400" b="0">
                <a:solidFill>
                  <a:srgbClr val="342E25"/>
                </a:solidFill>
                <a:latin typeface="Arial"/>
                <a:ea typeface="Arial"/>
                <a:cs typeface="Arial"/>
              </a:defRPr>
            </a:lvl1pPr>
            <a:lvl2pPr>
              <a:defRPr sz="2400" b="0">
                <a:solidFill>
                  <a:srgbClr val="342E25"/>
                </a:solidFill>
                <a:latin typeface="Arial"/>
                <a:ea typeface="Arial"/>
                <a:cs typeface="Arial"/>
              </a:defRPr>
            </a:lvl2pPr>
            <a:lvl3pPr>
              <a:defRPr sz="2400" b="0">
                <a:solidFill>
                  <a:srgbClr val="342E25"/>
                </a:solidFill>
                <a:latin typeface="Arial"/>
                <a:ea typeface="Arial"/>
                <a:cs typeface="Arial"/>
              </a:defRPr>
            </a:lvl3pPr>
            <a:lvl4pPr>
              <a:defRPr sz="2400" b="0">
                <a:solidFill>
                  <a:srgbClr val="342E25"/>
                </a:solidFill>
                <a:latin typeface="Arial"/>
                <a:ea typeface="Arial"/>
                <a:cs typeface="Arial"/>
              </a:defRPr>
            </a:lvl4pPr>
            <a:lvl5pPr>
              <a:defRPr sz="2400" b="0">
                <a:solidFill>
                  <a:srgbClr val="342E25"/>
                </a:solidFill>
                <a:latin typeface="Arial"/>
                <a:ea typeface="Arial"/>
                <a:cs typeface="Arial"/>
              </a:defRPr>
            </a:lvl5pPr>
            <a:lvl6pPr>
              <a:defRPr sz="2400" b="0">
                <a:solidFill>
                  <a:srgbClr val="342E25"/>
                </a:solidFill>
                <a:latin typeface="Arial"/>
                <a:ea typeface="Arial"/>
                <a:cs typeface="Arial"/>
              </a:defRPr>
            </a:lvl6pPr>
            <a:lvl7pPr>
              <a:defRPr sz="2400" b="0">
                <a:solidFill>
                  <a:srgbClr val="342E25"/>
                </a:solidFill>
                <a:latin typeface="Arial"/>
                <a:ea typeface="Arial"/>
                <a:cs typeface="Arial"/>
              </a:defRPr>
            </a:lvl7pPr>
            <a:lvl8pPr>
              <a:defRPr sz="2400" b="0">
                <a:solidFill>
                  <a:srgbClr val="342E25"/>
                </a:solidFill>
                <a:latin typeface="Arial"/>
                <a:ea typeface="Arial"/>
                <a:cs typeface="Arial"/>
              </a:defRPr>
            </a:lvl8pPr>
            <a:lvl9pPr>
              <a:defRPr sz="2400" b="0">
                <a:solidFill>
                  <a:srgbClr val="342E25"/>
                </a:solidFill>
                <a:latin typeface="Arial"/>
                <a:ea typeface="Arial"/>
                <a:cs typeface="Arial"/>
              </a:defRPr>
            </a:lvl9pPr>
          </a:lstStyle>
          <a:p>
            <a:pPr>
              <a:defRPr sz="2400" b="0">
                <a:solidFill>
                  <a:srgbClr val="342E25"/>
                </a:solidFill>
                <a:latin typeface="Arial"/>
                <a:ea typeface="Arial"/>
                <a:cs typeface="Arial"/>
              </a:defRPr>
            </a:pPr>
            <a:r>
              <a:rPr sz="2400" b="0" dirty="0">
                <a:solidFill>
                  <a:srgbClr val="342E25"/>
                </a:solidFill>
                <a:latin typeface="Arial"/>
                <a:ea typeface="Arial"/>
                <a:cs typeface="Arial"/>
              </a:rPr>
              <a:t>Prototype I</a:t>
            </a:r>
          </a:p>
        </p:txBody>
      </p:sp>
      <p:sp>
        <p:nvSpPr>
          <p:cNvPr id="4" name="Rectangle 3">
            <a:extLst>
              <a:ext uri="{FF2B5EF4-FFF2-40B4-BE49-F238E27FC236}">
                <a16:creationId xmlns:a16="http://schemas.microsoft.com/office/drawing/2014/main" id="{6D3858FF-4282-45AE-A281-4FB0240DB2BB}"/>
              </a:ext>
            </a:extLst>
          </p:cNvPr>
          <p:cNvSpPr>
            <a:spLocks noGrp="1"/>
          </p:cNvSpPr>
          <p:nvPr/>
        </p:nvSpPr>
        <p:spPr>
          <a:xfrm>
            <a:off x="609599" y="2019300"/>
            <a:ext cx="4036541" cy="3343275"/>
          </a:xfrm>
          <a:prstGeom prst="rect">
            <a:avLst/>
          </a:prstGeom>
          <a:noFill/>
          <a:ln w="0">
            <a:noFill/>
          </a:ln>
        </p:spPr>
        <p:txBody>
          <a:bodyPr anchor="t"/>
          <a:lstStyle>
            <a:defPPr>
              <a:defRPr sz="2175" b="0">
                <a:solidFill>
                  <a:srgbClr val="342E25"/>
                </a:solidFill>
                <a:latin typeface="Arial"/>
                <a:ea typeface="Arial"/>
                <a:cs typeface="Arial"/>
              </a:defRPr>
            </a:defPPr>
            <a:lvl1pPr>
              <a:defRPr sz="2175" b="0">
                <a:solidFill>
                  <a:srgbClr val="342E25"/>
                </a:solidFill>
                <a:latin typeface="Arial"/>
                <a:ea typeface="Arial"/>
                <a:cs typeface="Arial"/>
              </a:defRPr>
            </a:lvl1pPr>
            <a:lvl2pPr>
              <a:defRPr sz="2175" b="0">
                <a:solidFill>
                  <a:srgbClr val="342E25"/>
                </a:solidFill>
                <a:latin typeface="Arial"/>
                <a:ea typeface="Arial"/>
                <a:cs typeface="Arial"/>
              </a:defRPr>
            </a:lvl2pPr>
            <a:lvl3pPr>
              <a:defRPr sz="2175" b="0">
                <a:solidFill>
                  <a:srgbClr val="342E25"/>
                </a:solidFill>
                <a:latin typeface="Arial"/>
                <a:ea typeface="Arial"/>
                <a:cs typeface="Arial"/>
              </a:defRPr>
            </a:lvl3pPr>
            <a:lvl4pPr>
              <a:defRPr sz="2175" b="0">
                <a:solidFill>
                  <a:srgbClr val="342E25"/>
                </a:solidFill>
                <a:latin typeface="Arial"/>
                <a:ea typeface="Arial"/>
                <a:cs typeface="Arial"/>
              </a:defRPr>
            </a:lvl4pPr>
            <a:lvl5pPr>
              <a:defRPr sz="2175" b="0">
                <a:solidFill>
                  <a:srgbClr val="342E25"/>
                </a:solidFill>
                <a:latin typeface="Arial"/>
                <a:ea typeface="Arial"/>
                <a:cs typeface="Arial"/>
              </a:defRPr>
            </a:lvl5pPr>
            <a:lvl6pPr>
              <a:defRPr sz="2175" b="0">
                <a:solidFill>
                  <a:srgbClr val="342E25"/>
                </a:solidFill>
                <a:latin typeface="Arial"/>
                <a:ea typeface="Arial"/>
                <a:cs typeface="Arial"/>
              </a:defRPr>
            </a:lvl6pPr>
            <a:lvl7pPr>
              <a:defRPr sz="2175" b="0">
                <a:solidFill>
                  <a:srgbClr val="342E25"/>
                </a:solidFill>
                <a:latin typeface="Arial"/>
                <a:ea typeface="Arial"/>
                <a:cs typeface="Arial"/>
              </a:defRPr>
            </a:lvl7pPr>
            <a:lvl8pPr>
              <a:defRPr sz="2175" b="0">
                <a:solidFill>
                  <a:srgbClr val="342E25"/>
                </a:solidFill>
                <a:latin typeface="Arial"/>
                <a:ea typeface="Arial"/>
                <a:cs typeface="Arial"/>
              </a:defRPr>
            </a:lvl8pPr>
            <a:lvl9pPr>
              <a:defRPr sz="2175" b="0">
                <a:solidFill>
                  <a:srgbClr val="342E25"/>
                </a:solidFill>
                <a:latin typeface="Arial"/>
                <a:ea typeface="Arial"/>
                <a:cs typeface="Arial"/>
              </a:defRPr>
            </a:lvl9pPr>
          </a:lstStyle>
          <a:p>
            <a:pPr>
              <a:defRPr sz="2175" b="0">
                <a:solidFill>
                  <a:srgbClr val="342E25"/>
                </a:solidFill>
                <a:latin typeface="Arial"/>
                <a:ea typeface="Arial"/>
                <a:cs typeface="Arial"/>
              </a:defRPr>
            </a:pPr>
            <a:r>
              <a:rPr sz="2175" b="0" dirty="0">
                <a:solidFill>
                  <a:srgbClr val="342E25"/>
                </a:solidFill>
                <a:latin typeface="Arial"/>
                <a:ea typeface="Arial"/>
                <a:cs typeface="Arial"/>
              </a:rPr>
              <a:t>A single-player detective game about finding avoidable household electricity use.</a:t>
            </a:r>
          </a:p>
        </p:txBody>
      </p:sp>
      <p:pic>
        <p:nvPicPr>
          <p:cNvPr id="6" name="Picture 5">
            <a:extLst>
              <a:ext uri="{FF2B5EF4-FFF2-40B4-BE49-F238E27FC236}">
                <a16:creationId xmlns:a16="http://schemas.microsoft.com/office/drawing/2014/main" id="{48B3B1A4-4FD3-4017-98C2-02346DD1C466}"/>
              </a:ext>
            </a:extLst>
          </p:cNvPr>
          <p:cNvPicPr>
            <a:picLocks noChangeAspect="1"/>
          </p:cNvPicPr>
          <p:nvPr/>
        </p:nvPicPr>
        <p:blipFill>
          <a:blip r:embed="rId3"/>
          <a:stretch/>
        </p:blipFill>
        <p:spPr>
          <a:xfrm>
            <a:off x="4857750" y="1504950"/>
            <a:ext cx="6858000" cy="3857625"/>
          </a:xfrm>
          <a:prstGeom prst="rect">
            <a:avLst/>
          </a:prstGeom>
        </p:spPr>
      </p:pic>
    </p:spTree>
    <p:extLst>
      <p:ext uri="{BB962C8B-B14F-4D97-AF65-F5344CB8AC3E}">
        <p14:creationId xmlns:p14="http://schemas.microsoft.com/office/powerpoint/2010/main" val="913135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9D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36AD22-75AA-477C-9A7F-E99D174086C3}"/>
              </a:ext>
            </a:extLst>
          </p:cNvPr>
          <p:cNvSpPr>
            <a:spLocks noGrp="1"/>
          </p:cNvSpPr>
          <p:nvPr/>
        </p:nvSpPr>
        <p:spPr>
          <a:xfrm>
            <a:off x="609600" y="438150"/>
            <a:ext cx="10972800" cy="685800"/>
          </a:xfrm>
          <a:prstGeom prst="rect">
            <a:avLst/>
          </a:prstGeom>
          <a:noFill/>
          <a:ln w="0">
            <a:noFill/>
          </a:ln>
        </p:spPr>
        <p:txBody>
          <a:bodyPr anchor="t"/>
          <a:lstStyle>
            <a:defPPr>
              <a:defRPr sz="3300" b="1">
                <a:solidFill>
                  <a:srgbClr val="342E25"/>
                </a:solidFill>
                <a:latin typeface="Arial"/>
                <a:ea typeface="Arial"/>
                <a:cs typeface="Arial"/>
              </a:defRPr>
            </a:defPPr>
            <a:lvl1pPr>
              <a:defRPr sz="3300" b="1">
                <a:solidFill>
                  <a:srgbClr val="342E25"/>
                </a:solidFill>
                <a:latin typeface="Arial"/>
                <a:ea typeface="Arial"/>
                <a:cs typeface="Arial"/>
              </a:defRPr>
            </a:lvl1pPr>
            <a:lvl2pPr>
              <a:defRPr sz="3300" b="1">
                <a:solidFill>
                  <a:srgbClr val="342E25"/>
                </a:solidFill>
                <a:latin typeface="Arial"/>
                <a:ea typeface="Arial"/>
                <a:cs typeface="Arial"/>
              </a:defRPr>
            </a:lvl2pPr>
            <a:lvl3pPr>
              <a:defRPr sz="3300" b="1">
                <a:solidFill>
                  <a:srgbClr val="342E25"/>
                </a:solidFill>
                <a:latin typeface="Arial"/>
                <a:ea typeface="Arial"/>
                <a:cs typeface="Arial"/>
              </a:defRPr>
            </a:lvl3pPr>
            <a:lvl4pPr>
              <a:defRPr sz="3300" b="1">
                <a:solidFill>
                  <a:srgbClr val="342E25"/>
                </a:solidFill>
                <a:latin typeface="Arial"/>
                <a:ea typeface="Arial"/>
                <a:cs typeface="Arial"/>
              </a:defRPr>
            </a:lvl4pPr>
            <a:lvl5pPr>
              <a:defRPr sz="3300" b="1">
                <a:solidFill>
                  <a:srgbClr val="342E25"/>
                </a:solidFill>
                <a:latin typeface="Arial"/>
                <a:ea typeface="Arial"/>
                <a:cs typeface="Arial"/>
              </a:defRPr>
            </a:lvl5pPr>
            <a:lvl6pPr>
              <a:defRPr sz="3300" b="1">
                <a:solidFill>
                  <a:srgbClr val="342E25"/>
                </a:solidFill>
                <a:latin typeface="Arial"/>
                <a:ea typeface="Arial"/>
                <a:cs typeface="Arial"/>
              </a:defRPr>
            </a:lvl6pPr>
            <a:lvl7pPr>
              <a:defRPr sz="3300" b="1">
                <a:solidFill>
                  <a:srgbClr val="342E25"/>
                </a:solidFill>
                <a:latin typeface="Arial"/>
                <a:ea typeface="Arial"/>
                <a:cs typeface="Arial"/>
              </a:defRPr>
            </a:lvl7pPr>
            <a:lvl8pPr>
              <a:defRPr sz="3300" b="1">
                <a:solidFill>
                  <a:srgbClr val="342E25"/>
                </a:solidFill>
                <a:latin typeface="Arial"/>
                <a:ea typeface="Arial"/>
                <a:cs typeface="Arial"/>
              </a:defRPr>
            </a:lvl8pPr>
            <a:lvl9pPr>
              <a:defRPr sz="3300" b="1">
                <a:solidFill>
                  <a:srgbClr val="342E25"/>
                </a:solidFill>
                <a:latin typeface="Arial"/>
                <a:ea typeface="Arial"/>
                <a:cs typeface="Arial"/>
              </a:defRPr>
            </a:lvl9pPr>
          </a:lstStyle>
          <a:p>
            <a:pPr>
              <a:defRPr sz="3300" b="1">
                <a:solidFill>
                  <a:srgbClr val="342E25"/>
                </a:solidFill>
                <a:latin typeface="Arial"/>
                <a:ea typeface="Arial"/>
                <a:cs typeface="Arial"/>
              </a:defRPr>
            </a:pPr>
            <a:r>
              <a:rPr sz="3300" b="1">
                <a:solidFill>
                  <a:srgbClr val="342E25"/>
                </a:solidFill>
                <a:latin typeface="Arial"/>
                <a:ea typeface="Arial"/>
                <a:cs typeface="Arial"/>
              </a:rPr>
              <a:t>Implemented features</a:t>
            </a:r>
          </a:p>
        </p:txBody>
      </p:sp>
      <p:sp>
        <p:nvSpPr>
          <p:cNvPr id="2" name="Rectangle 1">
            <a:extLst>
              <a:ext uri="{FF2B5EF4-FFF2-40B4-BE49-F238E27FC236}">
                <a16:creationId xmlns:a16="http://schemas.microsoft.com/office/drawing/2014/main" id="{7B2F3916-7EB6-41BF-808B-F0FF7DA0EDD9}"/>
              </a:ext>
            </a:extLst>
          </p:cNvPr>
          <p:cNvSpPr>
            <a:spLocks noGrp="1"/>
          </p:cNvSpPr>
          <p:nvPr/>
        </p:nvSpPr>
        <p:spPr>
          <a:xfrm>
            <a:off x="609600" y="1476375"/>
            <a:ext cx="4095750" cy="1123950"/>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dirty="0">
                <a:solidFill>
                  <a:srgbClr val="342E25"/>
                </a:solidFill>
                <a:latin typeface="Arial"/>
                <a:ea typeface="Arial"/>
                <a:cs typeface="Arial"/>
              </a:rPr>
              <a:t>Explore a furnished house with an animated character and furniture collisions.</a:t>
            </a:r>
          </a:p>
        </p:txBody>
      </p:sp>
      <p:sp>
        <p:nvSpPr>
          <p:cNvPr id="3" name="Rectangle 2">
            <a:extLst>
              <a:ext uri="{FF2B5EF4-FFF2-40B4-BE49-F238E27FC236}">
                <a16:creationId xmlns:a16="http://schemas.microsoft.com/office/drawing/2014/main" id="{2033DD41-763C-4D09-9B89-0C35A3BA4780}"/>
              </a:ext>
            </a:extLst>
          </p:cNvPr>
          <p:cNvSpPr>
            <a:spLocks noGrp="1"/>
          </p:cNvSpPr>
          <p:nvPr/>
        </p:nvSpPr>
        <p:spPr>
          <a:xfrm>
            <a:off x="609600" y="2733675"/>
            <a:ext cx="4095750" cy="1123950"/>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dirty="0">
                <a:solidFill>
                  <a:srgbClr val="342E25"/>
                </a:solidFill>
                <a:latin typeface="Arial"/>
                <a:ea typeface="Arial"/>
                <a:cs typeface="Arial"/>
              </a:rPr>
              <a:t>Approach 11 electrical devices and press E to examine them.</a:t>
            </a:r>
          </a:p>
        </p:txBody>
      </p:sp>
      <p:sp>
        <p:nvSpPr>
          <p:cNvPr id="4" name="Rectangle 3">
            <a:extLst>
              <a:ext uri="{FF2B5EF4-FFF2-40B4-BE49-F238E27FC236}">
                <a16:creationId xmlns:a16="http://schemas.microsoft.com/office/drawing/2014/main" id="{60F35BDB-D800-4DD2-9919-29468FCFE4C2}"/>
              </a:ext>
            </a:extLst>
          </p:cNvPr>
          <p:cNvSpPr>
            <a:spLocks noGrp="1"/>
          </p:cNvSpPr>
          <p:nvPr/>
        </p:nvSpPr>
        <p:spPr>
          <a:xfrm>
            <a:off x="609600" y="3990975"/>
            <a:ext cx="4095750" cy="1123950"/>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dirty="0">
                <a:solidFill>
                  <a:srgbClr val="342E25"/>
                </a:solidFill>
                <a:latin typeface="Arial"/>
                <a:ea typeface="Arial"/>
                <a:cs typeface="Arial"/>
              </a:rPr>
              <a:t>Three complete cases load from JSON. Returning to the menu chooses another case.</a:t>
            </a:r>
          </a:p>
        </p:txBody>
      </p:sp>
      <p:pic>
        <p:nvPicPr>
          <p:cNvPr id="5" name="Picture 4">
            <a:extLst>
              <a:ext uri="{FF2B5EF4-FFF2-40B4-BE49-F238E27FC236}">
                <a16:creationId xmlns:a16="http://schemas.microsoft.com/office/drawing/2014/main" id="{DA226BFF-7FBB-4C57-BCEE-B7E6BD44CD44}"/>
              </a:ext>
            </a:extLst>
          </p:cNvPr>
          <p:cNvPicPr>
            <a:picLocks noChangeAspect="1"/>
          </p:cNvPicPr>
          <p:nvPr/>
        </p:nvPicPr>
        <p:blipFill>
          <a:blip r:embed="rId3"/>
          <a:stretch/>
        </p:blipFill>
        <p:spPr>
          <a:xfrm>
            <a:off x="5067300" y="1585317"/>
            <a:ext cx="6572250" cy="3696891"/>
          </a:xfrm>
          <a:prstGeom prst="rect">
            <a:avLst/>
          </a:prstGeom>
        </p:spPr>
      </p:pic>
    </p:spTree>
    <p:extLst>
      <p:ext uri="{BB962C8B-B14F-4D97-AF65-F5344CB8AC3E}">
        <p14:creationId xmlns:p14="http://schemas.microsoft.com/office/powerpoint/2010/main" val="992685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9D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CDD6CF-DE03-46E6-B7CD-71CAD5B8D5E7}"/>
              </a:ext>
            </a:extLst>
          </p:cNvPr>
          <p:cNvSpPr>
            <a:spLocks noGrp="1"/>
          </p:cNvSpPr>
          <p:nvPr/>
        </p:nvSpPr>
        <p:spPr>
          <a:xfrm>
            <a:off x="609600" y="438150"/>
            <a:ext cx="10972800" cy="685800"/>
          </a:xfrm>
          <a:prstGeom prst="rect">
            <a:avLst/>
          </a:prstGeom>
          <a:noFill/>
          <a:ln w="0">
            <a:noFill/>
          </a:ln>
        </p:spPr>
        <p:txBody>
          <a:bodyPr anchor="t"/>
          <a:lstStyle>
            <a:defPPr>
              <a:defRPr sz="3300" b="1">
                <a:solidFill>
                  <a:srgbClr val="342E25"/>
                </a:solidFill>
                <a:latin typeface="Arial"/>
                <a:ea typeface="Arial"/>
                <a:cs typeface="Arial"/>
              </a:defRPr>
            </a:defPPr>
            <a:lvl1pPr>
              <a:defRPr sz="3300" b="1">
                <a:solidFill>
                  <a:srgbClr val="342E25"/>
                </a:solidFill>
                <a:latin typeface="Arial"/>
                <a:ea typeface="Arial"/>
                <a:cs typeface="Arial"/>
              </a:defRPr>
            </a:lvl1pPr>
            <a:lvl2pPr>
              <a:defRPr sz="3300" b="1">
                <a:solidFill>
                  <a:srgbClr val="342E25"/>
                </a:solidFill>
                <a:latin typeface="Arial"/>
                <a:ea typeface="Arial"/>
                <a:cs typeface="Arial"/>
              </a:defRPr>
            </a:lvl2pPr>
            <a:lvl3pPr>
              <a:defRPr sz="3300" b="1">
                <a:solidFill>
                  <a:srgbClr val="342E25"/>
                </a:solidFill>
                <a:latin typeface="Arial"/>
                <a:ea typeface="Arial"/>
                <a:cs typeface="Arial"/>
              </a:defRPr>
            </a:lvl3pPr>
            <a:lvl4pPr>
              <a:defRPr sz="3300" b="1">
                <a:solidFill>
                  <a:srgbClr val="342E25"/>
                </a:solidFill>
                <a:latin typeface="Arial"/>
                <a:ea typeface="Arial"/>
                <a:cs typeface="Arial"/>
              </a:defRPr>
            </a:lvl4pPr>
            <a:lvl5pPr>
              <a:defRPr sz="3300" b="1">
                <a:solidFill>
                  <a:srgbClr val="342E25"/>
                </a:solidFill>
                <a:latin typeface="Arial"/>
                <a:ea typeface="Arial"/>
                <a:cs typeface="Arial"/>
              </a:defRPr>
            </a:lvl5pPr>
            <a:lvl6pPr>
              <a:defRPr sz="3300" b="1">
                <a:solidFill>
                  <a:srgbClr val="342E25"/>
                </a:solidFill>
                <a:latin typeface="Arial"/>
                <a:ea typeface="Arial"/>
                <a:cs typeface="Arial"/>
              </a:defRPr>
            </a:lvl6pPr>
            <a:lvl7pPr>
              <a:defRPr sz="3300" b="1">
                <a:solidFill>
                  <a:srgbClr val="342E25"/>
                </a:solidFill>
                <a:latin typeface="Arial"/>
                <a:ea typeface="Arial"/>
                <a:cs typeface="Arial"/>
              </a:defRPr>
            </a:lvl7pPr>
            <a:lvl8pPr>
              <a:defRPr sz="3300" b="1">
                <a:solidFill>
                  <a:srgbClr val="342E25"/>
                </a:solidFill>
                <a:latin typeface="Arial"/>
                <a:ea typeface="Arial"/>
                <a:cs typeface="Arial"/>
              </a:defRPr>
            </a:lvl8pPr>
            <a:lvl9pPr>
              <a:defRPr sz="3300" b="1">
                <a:solidFill>
                  <a:srgbClr val="342E25"/>
                </a:solidFill>
                <a:latin typeface="Arial"/>
                <a:ea typeface="Arial"/>
                <a:cs typeface="Arial"/>
              </a:defRPr>
            </a:lvl9pPr>
          </a:lstStyle>
          <a:p>
            <a:pPr>
              <a:defRPr sz="3300" b="1">
                <a:solidFill>
                  <a:srgbClr val="342E25"/>
                </a:solidFill>
                <a:latin typeface="Arial"/>
                <a:ea typeface="Arial"/>
                <a:cs typeface="Arial"/>
              </a:defRPr>
            </a:pPr>
            <a:r>
              <a:rPr sz="3300" b="1">
                <a:solidFill>
                  <a:srgbClr val="342E25"/>
                </a:solidFill>
                <a:latin typeface="Arial"/>
                <a:ea typeface="Arial"/>
                <a:cs typeface="Arial"/>
              </a:rPr>
              <a:t>Choosing what to inspect</a:t>
            </a:r>
          </a:p>
        </p:txBody>
      </p:sp>
      <p:sp>
        <p:nvSpPr>
          <p:cNvPr id="2" name="Rectangle 1">
            <a:extLst>
              <a:ext uri="{FF2B5EF4-FFF2-40B4-BE49-F238E27FC236}">
                <a16:creationId xmlns:a16="http://schemas.microsoft.com/office/drawing/2014/main" id="{CD63B7CE-ABC0-42FD-ABA8-886CBCB793CF}"/>
              </a:ext>
            </a:extLst>
          </p:cNvPr>
          <p:cNvSpPr>
            <a:spLocks noGrp="1"/>
          </p:cNvSpPr>
          <p:nvPr/>
        </p:nvSpPr>
        <p:spPr>
          <a:xfrm>
            <a:off x="609600" y="1476375"/>
            <a:ext cx="3905250" cy="1200150"/>
          </a:xfrm>
          <a:prstGeom prst="rect">
            <a:avLst/>
          </a:prstGeom>
          <a:noFill/>
          <a:ln w="0">
            <a:noFill/>
          </a:ln>
        </p:spPr>
        <p:txBody>
          <a:bodyPr anchor="t"/>
          <a:lstStyle>
            <a:defPPr>
              <a:defRPr sz="2025" b="0">
                <a:solidFill>
                  <a:srgbClr val="342E25"/>
                </a:solidFill>
                <a:latin typeface="Arial"/>
                <a:ea typeface="Arial"/>
                <a:cs typeface="Arial"/>
              </a:defRPr>
            </a:defPPr>
            <a:lvl1pPr>
              <a:defRPr sz="2025" b="0">
                <a:solidFill>
                  <a:srgbClr val="342E25"/>
                </a:solidFill>
                <a:latin typeface="Arial"/>
                <a:ea typeface="Arial"/>
                <a:cs typeface="Arial"/>
              </a:defRPr>
            </a:lvl1pPr>
            <a:lvl2pPr>
              <a:defRPr sz="2025" b="0">
                <a:solidFill>
                  <a:srgbClr val="342E25"/>
                </a:solidFill>
                <a:latin typeface="Arial"/>
                <a:ea typeface="Arial"/>
                <a:cs typeface="Arial"/>
              </a:defRPr>
            </a:lvl2pPr>
            <a:lvl3pPr>
              <a:defRPr sz="2025" b="0">
                <a:solidFill>
                  <a:srgbClr val="342E25"/>
                </a:solidFill>
                <a:latin typeface="Arial"/>
                <a:ea typeface="Arial"/>
                <a:cs typeface="Arial"/>
              </a:defRPr>
            </a:lvl3pPr>
            <a:lvl4pPr>
              <a:defRPr sz="2025" b="0">
                <a:solidFill>
                  <a:srgbClr val="342E25"/>
                </a:solidFill>
                <a:latin typeface="Arial"/>
                <a:ea typeface="Arial"/>
                <a:cs typeface="Arial"/>
              </a:defRPr>
            </a:lvl4pPr>
            <a:lvl5pPr>
              <a:defRPr sz="2025" b="0">
                <a:solidFill>
                  <a:srgbClr val="342E25"/>
                </a:solidFill>
                <a:latin typeface="Arial"/>
                <a:ea typeface="Arial"/>
                <a:cs typeface="Arial"/>
              </a:defRPr>
            </a:lvl5pPr>
            <a:lvl6pPr>
              <a:defRPr sz="2025" b="0">
                <a:solidFill>
                  <a:srgbClr val="342E25"/>
                </a:solidFill>
                <a:latin typeface="Arial"/>
                <a:ea typeface="Arial"/>
                <a:cs typeface="Arial"/>
              </a:defRPr>
            </a:lvl6pPr>
            <a:lvl7pPr>
              <a:defRPr sz="2025" b="0">
                <a:solidFill>
                  <a:srgbClr val="342E25"/>
                </a:solidFill>
                <a:latin typeface="Arial"/>
                <a:ea typeface="Arial"/>
                <a:cs typeface="Arial"/>
              </a:defRPr>
            </a:lvl7pPr>
            <a:lvl8pPr>
              <a:defRPr sz="2025" b="0">
                <a:solidFill>
                  <a:srgbClr val="342E25"/>
                </a:solidFill>
                <a:latin typeface="Arial"/>
                <a:ea typeface="Arial"/>
                <a:cs typeface="Arial"/>
              </a:defRPr>
            </a:lvl8pPr>
            <a:lvl9pPr>
              <a:defRPr sz="2025" b="0">
                <a:solidFill>
                  <a:srgbClr val="342E25"/>
                </a:solidFill>
                <a:latin typeface="Arial"/>
                <a:ea typeface="Arial"/>
                <a:cs typeface="Arial"/>
              </a:defRPr>
            </a:lvl9pPr>
          </a:lstStyle>
          <a:p>
            <a:pPr>
              <a:defRPr sz="2025" b="0">
                <a:solidFill>
                  <a:srgbClr val="342E25"/>
                </a:solidFill>
                <a:latin typeface="Arial"/>
                <a:ea typeface="Arial"/>
                <a:cs typeface="Arial"/>
              </a:defRPr>
            </a:pPr>
            <a:r>
              <a:rPr sz="2025" b="0" dirty="0">
                <a:solidFill>
                  <a:srgbClr val="342E25"/>
                </a:solidFill>
                <a:latin typeface="Arial"/>
                <a:ea typeface="Arial"/>
                <a:cs typeface="Arial"/>
              </a:rPr>
              <a:t>First impressions are free to read on every device.</a:t>
            </a:r>
          </a:p>
        </p:txBody>
      </p:sp>
      <p:sp>
        <p:nvSpPr>
          <p:cNvPr id="3" name="Rectangle 2">
            <a:extLst>
              <a:ext uri="{FF2B5EF4-FFF2-40B4-BE49-F238E27FC236}">
                <a16:creationId xmlns:a16="http://schemas.microsoft.com/office/drawing/2014/main" id="{52B0C037-750B-474C-811B-470C22E66044}"/>
              </a:ext>
            </a:extLst>
          </p:cNvPr>
          <p:cNvSpPr>
            <a:spLocks noGrp="1"/>
          </p:cNvSpPr>
          <p:nvPr/>
        </p:nvSpPr>
        <p:spPr>
          <a:xfrm>
            <a:off x="609600" y="2714625"/>
            <a:ext cx="3905250" cy="1200150"/>
          </a:xfrm>
          <a:prstGeom prst="rect">
            <a:avLst/>
          </a:prstGeom>
          <a:noFill/>
          <a:ln w="0">
            <a:noFill/>
          </a:ln>
        </p:spPr>
        <p:txBody>
          <a:bodyPr anchor="t"/>
          <a:lstStyle>
            <a:defPPr>
              <a:defRPr sz="2025" b="0">
                <a:solidFill>
                  <a:srgbClr val="342E25"/>
                </a:solidFill>
                <a:latin typeface="Arial"/>
                <a:ea typeface="Arial"/>
                <a:cs typeface="Arial"/>
              </a:defRPr>
            </a:defPPr>
            <a:lvl1pPr>
              <a:defRPr sz="2025" b="0">
                <a:solidFill>
                  <a:srgbClr val="342E25"/>
                </a:solidFill>
                <a:latin typeface="Arial"/>
                <a:ea typeface="Arial"/>
                <a:cs typeface="Arial"/>
              </a:defRPr>
            </a:lvl1pPr>
            <a:lvl2pPr>
              <a:defRPr sz="2025" b="0">
                <a:solidFill>
                  <a:srgbClr val="342E25"/>
                </a:solidFill>
                <a:latin typeface="Arial"/>
                <a:ea typeface="Arial"/>
                <a:cs typeface="Arial"/>
              </a:defRPr>
            </a:lvl2pPr>
            <a:lvl3pPr>
              <a:defRPr sz="2025" b="0">
                <a:solidFill>
                  <a:srgbClr val="342E25"/>
                </a:solidFill>
                <a:latin typeface="Arial"/>
                <a:ea typeface="Arial"/>
                <a:cs typeface="Arial"/>
              </a:defRPr>
            </a:lvl3pPr>
            <a:lvl4pPr>
              <a:defRPr sz="2025" b="0">
                <a:solidFill>
                  <a:srgbClr val="342E25"/>
                </a:solidFill>
                <a:latin typeface="Arial"/>
                <a:ea typeface="Arial"/>
                <a:cs typeface="Arial"/>
              </a:defRPr>
            </a:lvl4pPr>
            <a:lvl5pPr>
              <a:defRPr sz="2025" b="0">
                <a:solidFill>
                  <a:srgbClr val="342E25"/>
                </a:solidFill>
                <a:latin typeface="Arial"/>
                <a:ea typeface="Arial"/>
                <a:cs typeface="Arial"/>
              </a:defRPr>
            </a:lvl5pPr>
            <a:lvl6pPr>
              <a:defRPr sz="2025" b="0">
                <a:solidFill>
                  <a:srgbClr val="342E25"/>
                </a:solidFill>
                <a:latin typeface="Arial"/>
                <a:ea typeface="Arial"/>
                <a:cs typeface="Arial"/>
              </a:defRPr>
            </a:lvl6pPr>
            <a:lvl7pPr>
              <a:defRPr sz="2025" b="0">
                <a:solidFill>
                  <a:srgbClr val="342E25"/>
                </a:solidFill>
                <a:latin typeface="Arial"/>
                <a:ea typeface="Arial"/>
                <a:cs typeface="Arial"/>
              </a:defRPr>
            </a:lvl7pPr>
            <a:lvl8pPr>
              <a:defRPr sz="2025" b="0">
                <a:solidFill>
                  <a:srgbClr val="342E25"/>
                </a:solidFill>
                <a:latin typeface="Arial"/>
                <a:ea typeface="Arial"/>
                <a:cs typeface="Arial"/>
              </a:defRPr>
            </a:lvl8pPr>
            <a:lvl9pPr>
              <a:defRPr sz="2025" b="0">
                <a:solidFill>
                  <a:srgbClr val="342E25"/>
                </a:solidFill>
                <a:latin typeface="Arial"/>
                <a:ea typeface="Arial"/>
                <a:cs typeface="Arial"/>
              </a:defRPr>
            </a:lvl9pPr>
          </a:lstStyle>
          <a:p>
            <a:pPr>
              <a:defRPr sz="2025" b="0">
                <a:solidFill>
                  <a:srgbClr val="342E25"/>
                </a:solidFill>
                <a:latin typeface="Arial"/>
                <a:ea typeface="Arial"/>
                <a:cs typeface="Arial"/>
              </a:defRPr>
            </a:pPr>
            <a:r>
              <a:rPr sz="2025" b="0" dirty="0">
                <a:solidFill>
                  <a:srgbClr val="342E25"/>
                </a:solidFill>
                <a:latin typeface="Arial"/>
                <a:ea typeface="Arial"/>
                <a:cs typeface="Arial"/>
              </a:rPr>
              <a:t>Visible details and household habits suggest where to investigate.</a:t>
            </a:r>
          </a:p>
        </p:txBody>
      </p:sp>
      <p:sp>
        <p:nvSpPr>
          <p:cNvPr id="4" name="Rectangle 3">
            <a:extLst>
              <a:ext uri="{FF2B5EF4-FFF2-40B4-BE49-F238E27FC236}">
                <a16:creationId xmlns:a16="http://schemas.microsoft.com/office/drawing/2014/main" id="{0C86947C-593B-4F3F-9B6F-A4490A8A1362}"/>
              </a:ext>
            </a:extLst>
          </p:cNvPr>
          <p:cNvSpPr>
            <a:spLocks noGrp="1"/>
          </p:cNvSpPr>
          <p:nvPr/>
        </p:nvSpPr>
        <p:spPr>
          <a:xfrm>
            <a:off x="609600" y="4143375"/>
            <a:ext cx="3905250" cy="1200150"/>
          </a:xfrm>
          <a:prstGeom prst="rect">
            <a:avLst/>
          </a:prstGeom>
          <a:noFill/>
          <a:ln w="0">
            <a:noFill/>
          </a:ln>
        </p:spPr>
        <p:txBody>
          <a:bodyPr anchor="t"/>
          <a:lstStyle>
            <a:defPPr>
              <a:defRPr sz="2025" b="0">
                <a:solidFill>
                  <a:srgbClr val="342E25"/>
                </a:solidFill>
                <a:latin typeface="Arial"/>
                <a:ea typeface="Arial"/>
                <a:cs typeface="Arial"/>
              </a:defRPr>
            </a:defPPr>
            <a:lvl1pPr>
              <a:defRPr sz="2025" b="0">
                <a:solidFill>
                  <a:srgbClr val="342E25"/>
                </a:solidFill>
                <a:latin typeface="Arial"/>
                <a:ea typeface="Arial"/>
                <a:cs typeface="Arial"/>
              </a:defRPr>
            </a:lvl1pPr>
            <a:lvl2pPr>
              <a:defRPr sz="2025" b="0">
                <a:solidFill>
                  <a:srgbClr val="342E25"/>
                </a:solidFill>
                <a:latin typeface="Arial"/>
                <a:ea typeface="Arial"/>
                <a:cs typeface="Arial"/>
              </a:defRPr>
            </a:lvl2pPr>
            <a:lvl3pPr>
              <a:defRPr sz="2025" b="0">
                <a:solidFill>
                  <a:srgbClr val="342E25"/>
                </a:solidFill>
                <a:latin typeface="Arial"/>
                <a:ea typeface="Arial"/>
                <a:cs typeface="Arial"/>
              </a:defRPr>
            </a:lvl3pPr>
            <a:lvl4pPr>
              <a:defRPr sz="2025" b="0">
                <a:solidFill>
                  <a:srgbClr val="342E25"/>
                </a:solidFill>
                <a:latin typeface="Arial"/>
                <a:ea typeface="Arial"/>
                <a:cs typeface="Arial"/>
              </a:defRPr>
            </a:lvl4pPr>
            <a:lvl5pPr>
              <a:defRPr sz="2025" b="0">
                <a:solidFill>
                  <a:srgbClr val="342E25"/>
                </a:solidFill>
                <a:latin typeface="Arial"/>
                <a:ea typeface="Arial"/>
                <a:cs typeface="Arial"/>
              </a:defRPr>
            </a:lvl5pPr>
            <a:lvl6pPr>
              <a:defRPr sz="2025" b="0">
                <a:solidFill>
                  <a:srgbClr val="342E25"/>
                </a:solidFill>
                <a:latin typeface="Arial"/>
                <a:ea typeface="Arial"/>
                <a:cs typeface="Arial"/>
              </a:defRPr>
            </a:lvl6pPr>
            <a:lvl7pPr>
              <a:defRPr sz="2025" b="0">
                <a:solidFill>
                  <a:srgbClr val="342E25"/>
                </a:solidFill>
                <a:latin typeface="Arial"/>
                <a:ea typeface="Arial"/>
                <a:cs typeface="Arial"/>
              </a:defRPr>
            </a:lvl7pPr>
            <a:lvl8pPr>
              <a:defRPr sz="2025" b="0">
                <a:solidFill>
                  <a:srgbClr val="342E25"/>
                </a:solidFill>
                <a:latin typeface="Arial"/>
                <a:ea typeface="Arial"/>
                <a:cs typeface="Arial"/>
              </a:defRPr>
            </a:lvl8pPr>
            <a:lvl9pPr>
              <a:defRPr sz="2025" b="0">
                <a:solidFill>
                  <a:srgbClr val="342E25"/>
                </a:solidFill>
                <a:latin typeface="Arial"/>
                <a:ea typeface="Arial"/>
                <a:cs typeface="Arial"/>
              </a:defRPr>
            </a:lvl9pPr>
          </a:lstStyle>
          <a:p>
            <a:pPr>
              <a:defRPr sz="2025" b="0">
                <a:solidFill>
                  <a:srgbClr val="342E25"/>
                </a:solidFill>
                <a:latin typeface="Arial"/>
                <a:ea typeface="Arial"/>
                <a:cs typeface="Arial"/>
              </a:defRPr>
            </a:pPr>
            <a:r>
              <a:rPr sz="2025" b="0">
                <a:solidFill>
                  <a:srgbClr val="342E25"/>
                </a:solidFill>
                <a:latin typeface="Arial"/>
                <a:ea typeface="Arial"/>
                <a:cs typeface="Arial"/>
              </a:rPr>
              <a:t>Each case gives six detailed inspections to find three major problems.</a:t>
            </a:r>
          </a:p>
        </p:txBody>
      </p:sp>
      <p:pic>
        <p:nvPicPr>
          <p:cNvPr id="5" name="Picture 4">
            <a:extLst>
              <a:ext uri="{FF2B5EF4-FFF2-40B4-BE49-F238E27FC236}">
                <a16:creationId xmlns:a16="http://schemas.microsoft.com/office/drawing/2014/main" id="{21E69E15-DA58-4E2A-B2D3-411B4B3C282F}"/>
              </a:ext>
            </a:extLst>
          </p:cNvPr>
          <p:cNvPicPr>
            <a:picLocks noChangeAspect="1"/>
          </p:cNvPicPr>
          <p:nvPr/>
        </p:nvPicPr>
        <p:blipFill>
          <a:blip r:embed="rId3"/>
          <a:srcRect l="19618" t="6481" r="19618" b="6481"/>
          <a:stretch/>
        </p:blipFill>
        <p:spPr>
          <a:xfrm>
            <a:off x="5010150" y="1352550"/>
            <a:ext cx="6572250" cy="5286375"/>
          </a:xfrm>
          <a:prstGeom prst="rect">
            <a:avLst/>
          </a:prstGeom>
        </p:spPr>
      </p:pic>
    </p:spTree>
    <p:extLst>
      <p:ext uri="{BB962C8B-B14F-4D97-AF65-F5344CB8AC3E}">
        <p14:creationId xmlns:p14="http://schemas.microsoft.com/office/powerpoint/2010/main" val="577499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9D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60CB9F9-5DAB-4513-890D-6CD14D60A6E1}"/>
              </a:ext>
            </a:extLst>
          </p:cNvPr>
          <p:cNvSpPr>
            <a:spLocks noGrp="1"/>
          </p:cNvSpPr>
          <p:nvPr/>
        </p:nvSpPr>
        <p:spPr>
          <a:xfrm>
            <a:off x="609600" y="438150"/>
            <a:ext cx="10972800" cy="685800"/>
          </a:xfrm>
          <a:prstGeom prst="rect">
            <a:avLst/>
          </a:prstGeom>
          <a:noFill/>
          <a:ln w="0">
            <a:noFill/>
          </a:ln>
        </p:spPr>
        <p:txBody>
          <a:bodyPr anchor="t"/>
          <a:lstStyle>
            <a:defPPr>
              <a:defRPr sz="3300" b="1">
                <a:solidFill>
                  <a:srgbClr val="342E25"/>
                </a:solidFill>
                <a:latin typeface="Arial"/>
                <a:ea typeface="Arial"/>
                <a:cs typeface="Arial"/>
              </a:defRPr>
            </a:defPPr>
            <a:lvl1pPr>
              <a:defRPr sz="3300" b="1">
                <a:solidFill>
                  <a:srgbClr val="342E25"/>
                </a:solidFill>
                <a:latin typeface="Arial"/>
                <a:ea typeface="Arial"/>
                <a:cs typeface="Arial"/>
              </a:defRPr>
            </a:lvl1pPr>
            <a:lvl2pPr>
              <a:defRPr sz="3300" b="1">
                <a:solidFill>
                  <a:srgbClr val="342E25"/>
                </a:solidFill>
                <a:latin typeface="Arial"/>
                <a:ea typeface="Arial"/>
                <a:cs typeface="Arial"/>
              </a:defRPr>
            </a:lvl2pPr>
            <a:lvl3pPr>
              <a:defRPr sz="3300" b="1">
                <a:solidFill>
                  <a:srgbClr val="342E25"/>
                </a:solidFill>
                <a:latin typeface="Arial"/>
                <a:ea typeface="Arial"/>
                <a:cs typeface="Arial"/>
              </a:defRPr>
            </a:lvl3pPr>
            <a:lvl4pPr>
              <a:defRPr sz="3300" b="1">
                <a:solidFill>
                  <a:srgbClr val="342E25"/>
                </a:solidFill>
                <a:latin typeface="Arial"/>
                <a:ea typeface="Arial"/>
                <a:cs typeface="Arial"/>
              </a:defRPr>
            </a:lvl4pPr>
            <a:lvl5pPr>
              <a:defRPr sz="3300" b="1">
                <a:solidFill>
                  <a:srgbClr val="342E25"/>
                </a:solidFill>
                <a:latin typeface="Arial"/>
                <a:ea typeface="Arial"/>
                <a:cs typeface="Arial"/>
              </a:defRPr>
            </a:lvl5pPr>
            <a:lvl6pPr>
              <a:defRPr sz="3300" b="1">
                <a:solidFill>
                  <a:srgbClr val="342E25"/>
                </a:solidFill>
                <a:latin typeface="Arial"/>
                <a:ea typeface="Arial"/>
                <a:cs typeface="Arial"/>
              </a:defRPr>
            </a:lvl6pPr>
            <a:lvl7pPr>
              <a:defRPr sz="3300" b="1">
                <a:solidFill>
                  <a:srgbClr val="342E25"/>
                </a:solidFill>
                <a:latin typeface="Arial"/>
                <a:ea typeface="Arial"/>
                <a:cs typeface="Arial"/>
              </a:defRPr>
            </a:lvl7pPr>
            <a:lvl8pPr>
              <a:defRPr sz="3300" b="1">
                <a:solidFill>
                  <a:srgbClr val="342E25"/>
                </a:solidFill>
                <a:latin typeface="Arial"/>
                <a:ea typeface="Arial"/>
                <a:cs typeface="Arial"/>
              </a:defRPr>
            </a:lvl8pPr>
            <a:lvl9pPr>
              <a:defRPr sz="3300" b="1">
                <a:solidFill>
                  <a:srgbClr val="342E25"/>
                </a:solidFill>
                <a:latin typeface="Arial"/>
                <a:ea typeface="Arial"/>
                <a:cs typeface="Arial"/>
              </a:defRPr>
            </a:lvl9pPr>
          </a:lstStyle>
          <a:p>
            <a:pPr>
              <a:defRPr sz="3300" b="1">
                <a:solidFill>
                  <a:srgbClr val="342E25"/>
                </a:solidFill>
                <a:latin typeface="Arial"/>
                <a:ea typeface="Arial"/>
                <a:cs typeface="Arial"/>
              </a:defRPr>
            </a:pPr>
            <a:r>
              <a:rPr sz="3300" b="1">
                <a:solidFill>
                  <a:srgbClr val="342E25"/>
                </a:solidFill>
                <a:latin typeface="Arial"/>
                <a:ea typeface="Arial"/>
                <a:cs typeface="Arial"/>
              </a:rPr>
              <a:t>Evidence and corrective actions</a:t>
            </a:r>
          </a:p>
        </p:txBody>
      </p:sp>
      <p:sp>
        <p:nvSpPr>
          <p:cNvPr id="2" name="Rectangle 1">
            <a:extLst>
              <a:ext uri="{FF2B5EF4-FFF2-40B4-BE49-F238E27FC236}">
                <a16:creationId xmlns:a16="http://schemas.microsoft.com/office/drawing/2014/main" id="{FEC5E536-FD3F-4017-B581-BBA92A78E403}"/>
              </a:ext>
            </a:extLst>
          </p:cNvPr>
          <p:cNvSpPr>
            <a:spLocks noGrp="1"/>
          </p:cNvSpPr>
          <p:nvPr/>
        </p:nvSpPr>
        <p:spPr>
          <a:xfrm>
            <a:off x="609600" y="1476375"/>
            <a:ext cx="3905250" cy="1200150"/>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a:solidFill>
                  <a:srgbClr val="342E25"/>
                </a:solidFill>
                <a:latin typeface="Arial"/>
                <a:ea typeface="Arial"/>
                <a:cs typeface="Arial"/>
              </a:rPr>
              <a:t>An inspection reveals watts, operating time and recent usage history.</a:t>
            </a:r>
          </a:p>
        </p:txBody>
      </p:sp>
      <p:sp>
        <p:nvSpPr>
          <p:cNvPr id="3" name="Rectangle 2">
            <a:extLst>
              <a:ext uri="{FF2B5EF4-FFF2-40B4-BE49-F238E27FC236}">
                <a16:creationId xmlns:a16="http://schemas.microsoft.com/office/drawing/2014/main" id="{B060537A-2073-4BE3-A92F-04C31EEA824D}"/>
              </a:ext>
            </a:extLst>
          </p:cNvPr>
          <p:cNvSpPr>
            <a:spLocks noGrp="1"/>
          </p:cNvSpPr>
          <p:nvPr/>
        </p:nvSpPr>
        <p:spPr>
          <a:xfrm>
            <a:off x="609600" y="2809875"/>
            <a:ext cx="3905250" cy="1200150"/>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a:solidFill>
                  <a:srgbClr val="342E25"/>
                </a:solidFill>
                <a:latin typeface="Arial"/>
                <a:ea typeface="Arial"/>
                <a:cs typeface="Arial"/>
              </a:rPr>
              <a:t>The player compares the readings with the household routine, then chooses an action.</a:t>
            </a:r>
          </a:p>
        </p:txBody>
      </p:sp>
      <p:sp>
        <p:nvSpPr>
          <p:cNvPr id="4" name="Rectangle 3">
            <a:extLst>
              <a:ext uri="{FF2B5EF4-FFF2-40B4-BE49-F238E27FC236}">
                <a16:creationId xmlns:a16="http://schemas.microsoft.com/office/drawing/2014/main" id="{97DB904D-4EE4-435D-8744-18D8A5E17093}"/>
              </a:ext>
            </a:extLst>
          </p:cNvPr>
          <p:cNvSpPr>
            <a:spLocks noGrp="1"/>
          </p:cNvSpPr>
          <p:nvPr/>
        </p:nvSpPr>
        <p:spPr>
          <a:xfrm>
            <a:off x="609600" y="4143375"/>
            <a:ext cx="3905250" cy="1200150"/>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a:solidFill>
                  <a:srgbClr val="342E25"/>
                </a:solidFill>
                <a:latin typeface="Arial"/>
                <a:ea typeface="Arial"/>
                <a:cs typeface="Arial"/>
              </a:rPr>
              <a:t>Saved readings and case notes can be revisited without spending another inspection.</a:t>
            </a:r>
          </a:p>
        </p:txBody>
      </p:sp>
      <p:pic>
        <p:nvPicPr>
          <p:cNvPr id="5" name="Picture 4">
            <a:extLst>
              <a:ext uri="{FF2B5EF4-FFF2-40B4-BE49-F238E27FC236}">
                <a16:creationId xmlns:a16="http://schemas.microsoft.com/office/drawing/2014/main" id="{E8C8BB8A-DC1A-4075-A81D-C6D8E33A7DD7}"/>
              </a:ext>
            </a:extLst>
          </p:cNvPr>
          <p:cNvPicPr>
            <a:picLocks noChangeAspect="1"/>
          </p:cNvPicPr>
          <p:nvPr/>
        </p:nvPicPr>
        <p:blipFill>
          <a:blip r:embed="rId3"/>
          <a:srcRect l="19618" t="6481" r="19618" b="6481"/>
          <a:stretch/>
        </p:blipFill>
        <p:spPr>
          <a:xfrm>
            <a:off x="5010150" y="1352550"/>
            <a:ext cx="6572250" cy="5286375"/>
          </a:xfrm>
          <a:prstGeom prst="rect">
            <a:avLst/>
          </a:prstGeom>
        </p:spPr>
      </p:pic>
    </p:spTree>
    <p:extLst>
      <p:ext uri="{BB962C8B-B14F-4D97-AF65-F5344CB8AC3E}">
        <p14:creationId xmlns:p14="http://schemas.microsoft.com/office/powerpoint/2010/main" val="2133582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9D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A20F115-A731-4D53-AE2B-16090076C379}"/>
              </a:ext>
            </a:extLst>
          </p:cNvPr>
          <p:cNvSpPr>
            <a:spLocks noGrp="1"/>
          </p:cNvSpPr>
          <p:nvPr/>
        </p:nvSpPr>
        <p:spPr>
          <a:xfrm>
            <a:off x="609600" y="438150"/>
            <a:ext cx="10972800" cy="685800"/>
          </a:xfrm>
          <a:prstGeom prst="rect">
            <a:avLst/>
          </a:prstGeom>
          <a:noFill/>
          <a:ln w="0">
            <a:noFill/>
          </a:ln>
        </p:spPr>
        <p:txBody>
          <a:bodyPr anchor="t"/>
          <a:lstStyle>
            <a:defPPr>
              <a:defRPr sz="3300" b="1">
                <a:solidFill>
                  <a:srgbClr val="342E25"/>
                </a:solidFill>
                <a:latin typeface="Arial"/>
                <a:ea typeface="Arial"/>
                <a:cs typeface="Arial"/>
              </a:defRPr>
            </a:defPPr>
            <a:lvl1pPr>
              <a:defRPr sz="3300" b="1">
                <a:solidFill>
                  <a:srgbClr val="342E25"/>
                </a:solidFill>
                <a:latin typeface="Arial"/>
                <a:ea typeface="Arial"/>
                <a:cs typeface="Arial"/>
              </a:defRPr>
            </a:lvl1pPr>
            <a:lvl2pPr>
              <a:defRPr sz="3300" b="1">
                <a:solidFill>
                  <a:srgbClr val="342E25"/>
                </a:solidFill>
                <a:latin typeface="Arial"/>
                <a:ea typeface="Arial"/>
                <a:cs typeface="Arial"/>
              </a:defRPr>
            </a:lvl2pPr>
            <a:lvl3pPr>
              <a:defRPr sz="3300" b="1">
                <a:solidFill>
                  <a:srgbClr val="342E25"/>
                </a:solidFill>
                <a:latin typeface="Arial"/>
                <a:ea typeface="Arial"/>
                <a:cs typeface="Arial"/>
              </a:defRPr>
            </a:lvl3pPr>
            <a:lvl4pPr>
              <a:defRPr sz="3300" b="1">
                <a:solidFill>
                  <a:srgbClr val="342E25"/>
                </a:solidFill>
                <a:latin typeface="Arial"/>
                <a:ea typeface="Arial"/>
                <a:cs typeface="Arial"/>
              </a:defRPr>
            </a:lvl4pPr>
            <a:lvl5pPr>
              <a:defRPr sz="3300" b="1">
                <a:solidFill>
                  <a:srgbClr val="342E25"/>
                </a:solidFill>
                <a:latin typeface="Arial"/>
                <a:ea typeface="Arial"/>
                <a:cs typeface="Arial"/>
              </a:defRPr>
            </a:lvl5pPr>
            <a:lvl6pPr>
              <a:defRPr sz="3300" b="1">
                <a:solidFill>
                  <a:srgbClr val="342E25"/>
                </a:solidFill>
                <a:latin typeface="Arial"/>
                <a:ea typeface="Arial"/>
                <a:cs typeface="Arial"/>
              </a:defRPr>
            </a:lvl6pPr>
            <a:lvl7pPr>
              <a:defRPr sz="3300" b="1">
                <a:solidFill>
                  <a:srgbClr val="342E25"/>
                </a:solidFill>
                <a:latin typeface="Arial"/>
                <a:ea typeface="Arial"/>
                <a:cs typeface="Arial"/>
              </a:defRPr>
            </a:lvl7pPr>
            <a:lvl8pPr>
              <a:defRPr sz="3300" b="1">
                <a:solidFill>
                  <a:srgbClr val="342E25"/>
                </a:solidFill>
                <a:latin typeface="Arial"/>
                <a:ea typeface="Arial"/>
                <a:cs typeface="Arial"/>
              </a:defRPr>
            </a:lvl8pPr>
            <a:lvl9pPr>
              <a:defRPr sz="3300" b="1">
                <a:solidFill>
                  <a:srgbClr val="342E25"/>
                </a:solidFill>
                <a:latin typeface="Arial"/>
                <a:ea typeface="Arial"/>
                <a:cs typeface="Arial"/>
              </a:defRPr>
            </a:lvl9pPr>
          </a:lstStyle>
          <a:p>
            <a:pPr>
              <a:defRPr sz="3300" b="1">
                <a:solidFill>
                  <a:srgbClr val="342E25"/>
                </a:solidFill>
                <a:latin typeface="Arial"/>
                <a:ea typeface="Arial"/>
                <a:cs typeface="Arial"/>
              </a:defRPr>
            </a:pPr>
            <a:r>
              <a:rPr sz="3300" b="1">
                <a:solidFill>
                  <a:srgbClr val="342E25"/>
                </a:solidFill>
                <a:latin typeface="Arial"/>
                <a:ea typeface="Arial"/>
                <a:cs typeface="Arial"/>
              </a:rPr>
              <a:t>Social good in the gameplay</a:t>
            </a:r>
          </a:p>
        </p:txBody>
      </p:sp>
      <p:sp>
        <p:nvSpPr>
          <p:cNvPr id="2" name="Rectangle 1">
            <a:extLst>
              <a:ext uri="{FF2B5EF4-FFF2-40B4-BE49-F238E27FC236}">
                <a16:creationId xmlns:a16="http://schemas.microsoft.com/office/drawing/2014/main" id="{076E258F-EB04-432C-8CBA-7939946C8D40}"/>
              </a:ext>
            </a:extLst>
          </p:cNvPr>
          <p:cNvSpPr>
            <a:spLocks noGrp="1"/>
          </p:cNvSpPr>
          <p:nvPr/>
        </p:nvSpPr>
        <p:spPr>
          <a:xfrm>
            <a:off x="609600" y="1438275"/>
            <a:ext cx="3905250" cy="1247775"/>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a:solidFill>
                  <a:srgbClr val="342E25"/>
                </a:solidFill>
                <a:latin typeface="Arial"/>
                <a:ea typeface="Arial"/>
                <a:cs typeface="Arial"/>
              </a:rPr>
              <a:t>SDG 7: efficient electricity use</a:t>
            </a:r>
          </a:p>
          <a:p>
            <a:pPr>
              <a:defRPr sz="1875" b="0">
                <a:solidFill>
                  <a:srgbClr val="342E25"/>
                </a:solidFill>
                <a:latin typeface="Arial"/>
                <a:ea typeface="Arial"/>
                <a:cs typeface="Arial"/>
              </a:defRPr>
            </a:pPr>
            <a:r>
              <a:rPr sz="1875" b="0">
                <a:solidFill>
                  <a:srgbClr val="342E25"/>
                </a:solidFill>
                <a:latin typeface="Arial"/>
                <a:ea typeface="Arial"/>
                <a:cs typeface="Arial"/>
              </a:rPr>
              <a:t>The player identifies avoidable use and chooses a practical correction.</a:t>
            </a:r>
          </a:p>
        </p:txBody>
      </p:sp>
      <p:sp>
        <p:nvSpPr>
          <p:cNvPr id="3" name="Rectangle 2">
            <a:extLst>
              <a:ext uri="{FF2B5EF4-FFF2-40B4-BE49-F238E27FC236}">
                <a16:creationId xmlns:a16="http://schemas.microsoft.com/office/drawing/2014/main" id="{AEDF78F7-B5CF-460F-A4E6-3F12D6A9A974}"/>
              </a:ext>
            </a:extLst>
          </p:cNvPr>
          <p:cNvSpPr>
            <a:spLocks noGrp="1"/>
          </p:cNvSpPr>
          <p:nvPr/>
        </p:nvSpPr>
        <p:spPr>
          <a:xfrm>
            <a:off x="609600" y="2819400"/>
            <a:ext cx="3905250" cy="1247775"/>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a:solidFill>
                  <a:srgbClr val="342E25"/>
                </a:solidFill>
                <a:latin typeface="Arial"/>
                <a:ea typeface="Arial"/>
                <a:cs typeface="Arial"/>
              </a:rPr>
              <a:t>SDG 13: climate action</a:t>
            </a:r>
          </a:p>
          <a:p>
            <a:pPr>
              <a:defRPr sz="1875" b="0">
                <a:solidFill>
                  <a:srgbClr val="342E25"/>
                </a:solidFill>
                <a:latin typeface="Arial"/>
                <a:ea typeface="Arial"/>
                <a:cs typeface="Arial"/>
              </a:defRPr>
            </a:pPr>
            <a:r>
              <a:rPr sz="1875" b="0">
                <a:solidFill>
                  <a:srgbClr val="342E25"/>
                </a:solidFill>
                <a:latin typeface="Arial"/>
                <a:ea typeface="Arial"/>
                <a:cs typeface="Arial"/>
              </a:rPr>
              <a:t>Results connect electricity savings with estimated emissions avoided.</a:t>
            </a:r>
          </a:p>
        </p:txBody>
      </p:sp>
      <p:sp>
        <p:nvSpPr>
          <p:cNvPr id="4" name="Rectangle 3">
            <a:extLst>
              <a:ext uri="{FF2B5EF4-FFF2-40B4-BE49-F238E27FC236}">
                <a16:creationId xmlns:a16="http://schemas.microsoft.com/office/drawing/2014/main" id="{A5CBE070-85EE-4ED7-A1E4-992FED5FCAFC}"/>
              </a:ext>
            </a:extLst>
          </p:cNvPr>
          <p:cNvSpPr>
            <a:spLocks noGrp="1"/>
          </p:cNvSpPr>
          <p:nvPr/>
        </p:nvSpPr>
        <p:spPr>
          <a:xfrm>
            <a:off x="609600" y="4200525"/>
            <a:ext cx="3905250" cy="1247775"/>
          </a:xfrm>
          <a:prstGeom prst="rect">
            <a:avLst/>
          </a:prstGeom>
          <a:noFill/>
          <a:ln w="0">
            <a:noFill/>
          </a:ln>
        </p:spPr>
        <p:txBody>
          <a:bodyPr anchor="t"/>
          <a:lstStyle>
            <a:defPPr>
              <a:defRPr sz="1875" b="0">
                <a:solidFill>
                  <a:srgbClr val="342E25"/>
                </a:solidFill>
                <a:latin typeface="Arial"/>
                <a:ea typeface="Arial"/>
                <a:cs typeface="Arial"/>
              </a:defRPr>
            </a:defPPr>
            <a:lvl1pPr>
              <a:defRPr sz="1875" b="0">
                <a:solidFill>
                  <a:srgbClr val="342E25"/>
                </a:solidFill>
                <a:latin typeface="Arial"/>
                <a:ea typeface="Arial"/>
                <a:cs typeface="Arial"/>
              </a:defRPr>
            </a:lvl1pPr>
            <a:lvl2pPr>
              <a:defRPr sz="1875" b="0">
                <a:solidFill>
                  <a:srgbClr val="342E25"/>
                </a:solidFill>
                <a:latin typeface="Arial"/>
                <a:ea typeface="Arial"/>
                <a:cs typeface="Arial"/>
              </a:defRPr>
            </a:lvl2pPr>
            <a:lvl3pPr>
              <a:defRPr sz="1875" b="0">
                <a:solidFill>
                  <a:srgbClr val="342E25"/>
                </a:solidFill>
                <a:latin typeface="Arial"/>
                <a:ea typeface="Arial"/>
                <a:cs typeface="Arial"/>
              </a:defRPr>
            </a:lvl3pPr>
            <a:lvl4pPr>
              <a:defRPr sz="1875" b="0">
                <a:solidFill>
                  <a:srgbClr val="342E25"/>
                </a:solidFill>
                <a:latin typeface="Arial"/>
                <a:ea typeface="Arial"/>
                <a:cs typeface="Arial"/>
              </a:defRPr>
            </a:lvl4pPr>
            <a:lvl5pPr>
              <a:defRPr sz="1875" b="0">
                <a:solidFill>
                  <a:srgbClr val="342E25"/>
                </a:solidFill>
                <a:latin typeface="Arial"/>
                <a:ea typeface="Arial"/>
                <a:cs typeface="Arial"/>
              </a:defRPr>
            </a:lvl5pPr>
            <a:lvl6pPr>
              <a:defRPr sz="1875" b="0">
                <a:solidFill>
                  <a:srgbClr val="342E25"/>
                </a:solidFill>
                <a:latin typeface="Arial"/>
                <a:ea typeface="Arial"/>
                <a:cs typeface="Arial"/>
              </a:defRPr>
            </a:lvl6pPr>
            <a:lvl7pPr>
              <a:defRPr sz="1875" b="0">
                <a:solidFill>
                  <a:srgbClr val="342E25"/>
                </a:solidFill>
                <a:latin typeface="Arial"/>
                <a:ea typeface="Arial"/>
                <a:cs typeface="Arial"/>
              </a:defRPr>
            </a:lvl7pPr>
            <a:lvl8pPr>
              <a:defRPr sz="1875" b="0">
                <a:solidFill>
                  <a:srgbClr val="342E25"/>
                </a:solidFill>
                <a:latin typeface="Arial"/>
                <a:ea typeface="Arial"/>
                <a:cs typeface="Arial"/>
              </a:defRPr>
            </a:lvl8pPr>
            <a:lvl9pPr>
              <a:defRPr sz="1875" b="0">
                <a:solidFill>
                  <a:srgbClr val="342E25"/>
                </a:solidFill>
                <a:latin typeface="Arial"/>
                <a:ea typeface="Arial"/>
                <a:cs typeface="Arial"/>
              </a:defRPr>
            </a:lvl9pPr>
          </a:lstStyle>
          <a:p>
            <a:pPr>
              <a:defRPr sz="1875" b="0">
                <a:solidFill>
                  <a:srgbClr val="342E25"/>
                </a:solidFill>
                <a:latin typeface="Arial"/>
                <a:ea typeface="Arial"/>
                <a:cs typeface="Arial"/>
              </a:defRPr>
            </a:pPr>
            <a:r>
              <a:rPr sz="1875" b="0">
                <a:solidFill>
                  <a:srgbClr val="342E25"/>
                </a:solidFill>
                <a:latin typeface="Arial"/>
                <a:ea typeface="Arial"/>
                <a:cs typeface="Arial"/>
              </a:rPr>
              <a:t>The game teaches that power draw and operating time both matter.</a:t>
            </a:r>
          </a:p>
        </p:txBody>
      </p:sp>
      <p:pic>
        <p:nvPicPr>
          <p:cNvPr id="5" name="Picture 4">
            <a:extLst>
              <a:ext uri="{FF2B5EF4-FFF2-40B4-BE49-F238E27FC236}">
                <a16:creationId xmlns:a16="http://schemas.microsoft.com/office/drawing/2014/main" id="{7F9036E4-0F47-461B-8B97-26F78E2BDC21}"/>
              </a:ext>
            </a:extLst>
          </p:cNvPr>
          <p:cNvPicPr>
            <a:picLocks noChangeAspect="1"/>
          </p:cNvPicPr>
          <p:nvPr/>
        </p:nvPicPr>
        <p:blipFill>
          <a:blip r:embed="rId3"/>
          <a:srcRect l="19618" t="6481" r="19618" b="6481"/>
          <a:stretch/>
        </p:blipFill>
        <p:spPr>
          <a:xfrm>
            <a:off x="5010150" y="1352550"/>
            <a:ext cx="6572250" cy="5286375"/>
          </a:xfrm>
          <a:prstGeom prst="rect">
            <a:avLst/>
          </a:prstGeom>
        </p:spPr>
      </p:pic>
    </p:spTree>
    <p:extLst>
      <p:ext uri="{BB962C8B-B14F-4D97-AF65-F5344CB8AC3E}">
        <p14:creationId xmlns:p14="http://schemas.microsoft.com/office/powerpoint/2010/main" val="1324733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9D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E9D33A3-4DBF-4B2C-A328-2D9F8ED39F19}"/>
              </a:ext>
            </a:extLst>
          </p:cNvPr>
          <p:cNvSpPr>
            <a:spLocks noGrp="1"/>
          </p:cNvSpPr>
          <p:nvPr/>
        </p:nvSpPr>
        <p:spPr>
          <a:xfrm>
            <a:off x="609600" y="438150"/>
            <a:ext cx="10972800" cy="685800"/>
          </a:xfrm>
          <a:prstGeom prst="rect">
            <a:avLst/>
          </a:prstGeom>
          <a:noFill/>
          <a:ln w="0">
            <a:noFill/>
          </a:ln>
        </p:spPr>
        <p:txBody>
          <a:bodyPr anchor="t"/>
          <a:lstStyle>
            <a:defPPr>
              <a:defRPr sz="3300" b="1">
                <a:solidFill>
                  <a:srgbClr val="342E25"/>
                </a:solidFill>
                <a:latin typeface="Arial"/>
                <a:ea typeface="Arial"/>
                <a:cs typeface="Arial"/>
              </a:defRPr>
            </a:defPPr>
            <a:lvl1pPr>
              <a:defRPr sz="3300" b="1">
                <a:solidFill>
                  <a:srgbClr val="342E25"/>
                </a:solidFill>
                <a:latin typeface="Arial"/>
                <a:ea typeface="Arial"/>
                <a:cs typeface="Arial"/>
              </a:defRPr>
            </a:lvl1pPr>
            <a:lvl2pPr>
              <a:defRPr sz="3300" b="1">
                <a:solidFill>
                  <a:srgbClr val="342E25"/>
                </a:solidFill>
                <a:latin typeface="Arial"/>
                <a:ea typeface="Arial"/>
                <a:cs typeface="Arial"/>
              </a:defRPr>
            </a:lvl2pPr>
            <a:lvl3pPr>
              <a:defRPr sz="3300" b="1">
                <a:solidFill>
                  <a:srgbClr val="342E25"/>
                </a:solidFill>
                <a:latin typeface="Arial"/>
                <a:ea typeface="Arial"/>
                <a:cs typeface="Arial"/>
              </a:defRPr>
            </a:lvl3pPr>
            <a:lvl4pPr>
              <a:defRPr sz="3300" b="1">
                <a:solidFill>
                  <a:srgbClr val="342E25"/>
                </a:solidFill>
                <a:latin typeface="Arial"/>
                <a:ea typeface="Arial"/>
                <a:cs typeface="Arial"/>
              </a:defRPr>
            </a:lvl4pPr>
            <a:lvl5pPr>
              <a:defRPr sz="3300" b="1">
                <a:solidFill>
                  <a:srgbClr val="342E25"/>
                </a:solidFill>
                <a:latin typeface="Arial"/>
                <a:ea typeface="Arial"/>
                <a:cs typeface="Arial"/>
              </a:defRPr>
            </a:lvl5pPr>
            <a:lvl6pPr>
              <a:defRPr sz="3300" b="1">
                <a:solidFill>
                  <a:srgbClr val="342E25"/>
                </a:solidFill>
                <a:latin typeface="Arial"/>
                <a:ea typeface="Arial"/>
                <a:cs typeface="Arial"/>
              </a:defRPr>
            </a:lvl6pPr>
            <a:lvl7pPr>
              <a:defRPr sz="3300" b="1">
                <a:solidFill>
                  <a:srgbClr val="342E25"/>
                </a:solidFill>
                <a:latin typeface="Arial"/>
                <a:ea typeface="Arial"/>
                <a:cs typeface="Arial"/>
              </a:defRPr>
            </a:lvl7pPr>
            <a:lvl8pPr>
              <a:defRPr sz="3300" b="1">
                <a:solidFill>
                  <a:srgbClr val="342E25"/>
                </a:solidFill>
                <a:latin typeface="Arial"/>
                <a:ea typeface="Arial"/>
                <a:cs typeface="Arial"/>
              </a:defRPr>
            </a:lvl8pPr>
            <a:lvl9pPr>
              <a:defRPr sz="3300" b="1">
                <a:solidFill>
                  <a:srgbClr val="342E25"/>
                </a:solidFill>
                <a:latin typeface="Arial"/>
                <a:ea typeface="Arial"/>
                <a:cs typeface="Arial"/>
              </a:defRPr>
            </a:lvl9pPr>
          </a:lstStyle>
          <a:p>
            <a:pPr>
              <a:defRPr sz="3300" b="1">
                <a:solidFill>
                  <a:srgbClr val="342E25"/>
                </a:solidFill>
                <a:latin typeface="Arial"/>
                <a:ea typeface="Arial"/>
                <a:cs typeface="Arial"/>
              </a:defRPr>
            </a:pPr>
            <a:r>
              <a:rPr sz="3300" b="1">
                <a:solidFill>
                  <a:srgbClr val="342E25"/>
                </a:solidFill>
                <a:latin typeface="Arial"/>
                <a:ea typeface="Arial"/>
                <a:cs typeface="Arial"/>
              </a:rPr>
              <a:t>Prototype II plan</a:t>
            </a:r>
          </a:p>
        </p:txBody>
      </p:sp>
      <p:sp>
        <p:nvSpPr>
          <p:cNvPr id="6" name="Rectangle 5">
            <a:extLst>
              <a:ext uri="{FF2B5EF4-FFF2-40B4-BE49-F238E27FC236}">
                <a16:creationId xmlns:a16="http://schemas.microsoft.com/office/drawing/2014/main" id="{3BD8C399-07D1-45F4-8273-9AD28A1C11CB}"/>
              </a:ext>
            </a:extLst>
          </p:cNvPr>
          <p:cNvSpPr>
            <a:spLocks noGrp="1"/>
          </p:cNvSpPr>
          <p:nvPr/>
        </p:nvSpPr>
        <p:spPr>
          <a:xfrm>
            <a:off x="609600" y="1495940"/>
            <a:ext cx="5048250" cy="476250"/>
          </a:xfrm>
          <a:prstGeom prst="rect">
            <a:avLst/>
          </a:prstGeom>
          <a:noFill/>
          <a:ln w="0">
            <a:noFill/>
          </a:ln>
        </p:spPr>
        <p:txBody>
          <a:bodyPr anchor="t"/>
          <a:lstStyle>
            <a:defPPr>
              <a:defRPr sz="2250" b="1">
                <a:solidFill>
                  <a:srgbClr val="342E25"/>
                </a:solidFill>
                <a:latin typeface="Arial"/>
                <a:ea typeface="Arial"/>
                <a:cs typeface="Arial"/>
              </a:defRPr>
            </a:defPPr>
            <a:lvl1pPr>
              <a:defRPr sz="2250" b="1">
                <a:solidFill>
                  <a:srgbClr val="342E25"/>
                </a:solidFill>
                <a:latin typeface="Arial"/>
                <a:ea typeface="Arial"/>
                <a:cs typeface="Arial"/>
              </a:defRPr>
            </a:lvl1pPr>
            <a:lvl2pPr>
              <a:defRPr sz="2250" b="1">
                <a:solidFill>
                  <a:srgbClr val="342E25"/>
                </a:solidFill>
                <a:latin typeface="Arial"/>
                <a:ea typeface="Arial"/>
                <a:cs typeface="Arial"/>
              </a:defRPr>
            </a:lvl2pPr>
            <a:lvl3pPr>
              <a:defRPr sz="2250" b="1">
                <a:solidFill>
                  <a:srgbClr val="342E25"/>
                </a:solidFill>
                <a:latin typeface="Arial"/>
                <a:ea typeface="Arial"/>
                <a:cs typeface="Arial"/>
              </a:defRPr>
            </a:lvl3pPr>
            <a:lvl4pPr>
              <a:defRPr sz="2250" b="1">
                <a:solidFill>
                  <a:srgbClr val="342E25"/>
                </a:solidFill>
                <a:latin typeface="Arial"/>
                <a:ea typeface="Arial"/>
                <a:cs typeface="Arial"/>
              </a:defRPr>
            </a:lvl4pPr>
            <a:lvl5pPr>
              <a:defRPr sz="2250" b="1">
                <a:solidFill>
                  <a:srgbClr val="342E25"/>
                </a:solidFill>
                <a:latin typeface="Arial"/>
                <a:ea typeface="Arial"/>
                <a:cs typeface="Arial"/>
              </a:defRPr>
            </a:lvl5pPr>
            <a:lvl6pPr>
              <a:defRPr sz="2250" b="1">
                <a:solidFill>
                  <a:srgbClr val="342E25"/>
                </a:solidFill>
                <a:latin typeface="Arial"/>
                <a:ea typeface="Arial"/>
                <a:cs typeface="Arial"/>
              </a:defRPr>
            </a:lvl6pPr>
            <a:lvl7pPr>
              <a:defRPr sz="2250" b="1">
                <a:solidFill>
                  <a:srgbClr val="342E25"/>
                </a:solidFill>
                <a:latin typeface="Arial"/>
                <a:ea typeface="Arial"/>
                <a:cs typeface="Arial"/>
              </a:defRPr>
            </a:lvl7pPr>
            <a:lvl8pPr>
              <a:defRPr sz="2250" b="1">
                <a:solidFill>
                  <a:srgbClr val="342E25"/>
                </a:solidFill>
                <a:latin typeface="Arial"/>
                <a:ea typeface="Arial"/>
                <a:cs typeface="Arial"/>
              </a:defRPr>
            </a:lvl8pPr>
            <a:lvl9pPr>
              <a:defRPr sz="2250" b="1">
                <a:solidFill>
                  <a:srgbClr val="342E25"/>
                </a:solidFill>
                <a:latin typeface="Arial"/>
                <a:ea typeface="Arial"/>
                <a:cs typeface="Arial"/>
              </a:defRPr>
            </a:lvl9pPr>
          </a:lstStyle>
          <a:p>
            <a:pPr>
              <a:defRPr sz="2250" b="1">
                <a:solidFill>
                  <a:srgbClr val="342E25"/>
                </a:solidFill>
                <a:latin typeface="Arial"/>
                <a:ea typeface="Arial"/>
                <a:cs typeface="Arial"/>
              </a:defRPr>
            </a:pPr>
            <a:r>
              <a:rPr sz="2250" b="1" dirty="0">
                <a:solidFill>
                  <a:srgbClr val="342E25"/>
                </a:solidFill>
                <a:latin typeface="Arial"/>
                <a:ea typeface="Arial"/>
                <a:cs typeface="Arial"/>
              </a:rPr>
              <a:t>Planned next steps</a:t>
            </a:r>
          </a:p>
        </p:txBody>
      </p:sp>
      <p:sp>
        <p:nvSpPr>
          <p:cNvPr id="8" name="Rectangle 7">
            <a:extLst>
              <a:ext uri="{FF2B5EF4-FFF2-40B4-BE49-F238E27FC236}">
                <a16:creationId xmlns:a16="http://schemas.microsoft.com/office/drawing/2014/main" id="{62940D55-036B-4350-A697-0C6E9F610008}"/>
              </a:ext>
            </a:extLst>
          </p:cNvPr>
          <p:cNvSpPr>
            <a:spLocks noGrp="1"/>
          </p:cNvSpPr>
          <p:nvPr/>
        </p:nvSpPr>
        <p:spPr>
          <a:xfrm>
            <a:off x="609600" y="2362715"/>
            <a:ext cx="5048250" cy="1057275"/>
          </a:xfrm>
          <a:prstGeom prst="rect">
            <a:avLst/>
          </a:prstGeom>
          <a:noFill/>
          <a:ln w="0">
            <a:noFill/>
          </a:ln>
        </p:spPr>
        <p:txBody>
          <a:bodyPr anchor="t"/>
          <a:lstStyle>
            <a:defPPr>
              <a:defRPr sz="2025" b="0">
                <a:solidFill>
                  <a:srgbClr val="342E25"/>
                </a:solidFill>
                <a:latin typeface="Arial"/>
                <a:ea typeface="Arial"/>
                <a:cs typeface="Arial"/>
              </a:defRPr>
            </a:defPPr>
            <a:lvl1pPr>
              <a:defRPr sz="2025" b="0">
                <a:solidFill>
                  <a:srgbClr val="342E25"/>
                </a:solidFill>
                <a:latin typeface="Arial"/>
                <a:ea typeface="Arial"/>
                <a:cs typeface="Arial"/>
              </a:defRPr>
            </a:lvl1pPr>
            <a:lvl2pPr>
              <a:defRPr sz="2025" b="0">
                <a:solidFill>
                  <a:srgbClr val="342E25"/>
                </a:solidFill>
                <a:latin typeface="Arial"/>
                <a:ea typeface="Arial"/>
                <a:cs typeface="Arial"/>
              </a:defRPr>
            </a:lvl2pPr>
            <a:lvl3pPr>
              <a:defRPr sz="2025" b="0">
                <a:solidFill>
                  <a:srgbClr val="342E25"/>
                </a:solidFill>
                <a:latin typeface="Arial"/>
                <a:ea typeface="Arial"/>
                <a:cs typeface="Arial"/>
              </a:defRPr>
            </a:lvl3pPr>
            <a:lvl4pPr>
              <a:defRPr sz="2025" b="0">
                <a:solidFill>
                  <a:srgbClr val="342E25"/>
                </a:solidFill>
                <a:latin typeface="Arial"/>
                <a:ea typeface="Arial"/>
                <a:cs typeface="Arial"/>
              </a:defRPr>
            </a:lvl4pPr>
            <a:lvl5pPr>
              <a:defRPr sz="2025" b="0">
                <a:solidFill>
                  <a:srgbClr val="342E25"/>
                </a:solidFill>
                <a:latin typeface="Arial"/>
                <a:ea typeface="Arial"/>
                <a:cs typeface="Arial"/>
              </a:defRPr>
            </a:lvl5pPr>
            <a:lvl6pPr>
              <a:defRPr sz="2025" b="0">
                <a:solidFill>
                  <a:srgbClr val="342E25"/>
                </a:solidFill>
                <a:latin typeface="Arial"/>
                <a:ea typeface="Arial"/>
                <a:cs typeface="Arial"/>
              </a:defRPr>
            </a:lvl6pPr>
            <a:lvl7pPr>
              <a:defRPr sz="2025" b="0">
                <a:solidFill>
                  <a:srgbClr val="342E25"/>
                </a:solidFill>
                <a:latin typeface="Arial"/>
                <a:ea typeface="Arial"/>
                <a:cs typeface="Arial"/>
              </a:defRPr>
            </a:lvl7pPr>
            <a:lvl8pPr>
              <a:defRPr sz="2025" b="0">
                <a:solidFill>
                  <a:srgbClr val="342E25"/>
                </a:solidFill>
                <a:latin typeface="Arial"/>
                <a:ea typeface="Arial"/>
                <a:cs typeface="Arial"/>
              </a:defRPr>
            </a:lvl8pPr>
            <a:lvl9pPr>
              <a:defRPr sz="2025" b="0">
                <a:solidFill>
                  <a:srgbClr val="342E25"/>
                </a:solidFill>
                <a:latin typeface="Arial"/>
                <a:ea typeface="Arial"/>
                <a:cs typeface="Arial"/>
              </a:defRPr>
            </a:lvl9pPr>
          </a:lstStyle>
          <a:p>
            <a:pPr>
              <a:defRPr sz="2025" b="0">
                <a:solidFill>
                  <a:srgbClr val="342E25"/>
                </a:solidFill>
                <a:latin typeface="Arial"/>
                <a:ea typeface="Arial"/>
                <a:cs typeface="Arial"/>
              </a:defRPr>
            </a:pPr>
            <a:r>
              <a:rPr sz="2025" b="0" dirty="0">
                <a:solidFill>
                  <a:srgbClr val="342E25"/>
                </a:solidFill>
                <a:latin typeface="Arial"/>
                <a:ea typeface="Arial"/>
                <a:cs typeface="Arial"/>
              </a:rPr>
              <a:t>Add household layouts and more varied cases.</a:t>
            </a:r>
          </a:p>
        </p:txBody>
      </p:sp>
      <p:sp>
        <p:nvSpPr>
          <p:cNvPr id="9" name="Rectangle 8">
            <a:extLst>
              <a:ext uri="{FF2B5EF4-FFF2-40B4-BE49-F238E27FC236}">
                <a16:creationId xmlns:a16="http://schemas.microsoft.com/office/drawing/2014/main" id="{9CAC2DAF-B868-443A-9BE1-212BB7004004}"/>
              </a:ext>
            </a:extLst>
          </p:cNvPr>
          <p:cNvSpPr>
            <a:spLocks noGrp="1"/>
          </p:cNvSpPr>
          <p:nvPr/>
        </p:nvSpPr>
        <p:spPr>
          <a:xfrm>
            <a:off x="609600" y="3429000"/>
            <a:ext cx="5048250" cy="1057275"/>
          </a:xfrm>
          <a:prstGeom prst="rect">
            <a:avLst/>
          </a:prstGeom>
          <a:noFill/>
          <a:ln w="0">
            <a:noFill/>
          </a:ln>
        </p:spPr>
        <p:txBody>
          <a:bodyPr anchor="t"/>
          <a:lstStyle>
            <a:defPPr>
              <a:defRPr sz="2025" b="0">
                <a:solidFill>
                  <a:srgbClr val="342E25"/>
                </a:solidFill>
                <a:latin typeface="Arial"/>
                <a:ea typeface="Arial"/>
                <a:cs typeface="Arial"/>
              </a:defRPr>
            </a:defPPr>
            <a:lvl1pPr>
              <a:defRPr sz="2025" b="0">
                <a:solidFill>
                  <a:srgbClr val="342E25"/>
                </a:solidFill>
                <a:latin typeface="Arial"/>
                <a:ea typeface="Arial"/>
                <a:cs typeface="Arial"/>
              </a:defRPr>
            </a:lvl1pPr>
            <a:lvl2pPr>
              <a:defRPr sz="2025" b="0">
                <a:solidFill>
                  <a:srgbClr val="342E25"/>
                </a:solidFill>
                <a:latin typeface="Arial"/>
                <a:ea typeface="Arial"/>
                <a:cs typeface="Arial"/>
              </a:defRPr>
            </a:lvl2pPr>
            <a:lvl3pPr>
              <a:defRPr sz="2025" b="0">
                <a:solidFill>
                  <a:srgbClr val="342E25"/>
                </a:solidFill>
                <a:latin typeface="Arial"/>
                <a:ea typeface="Arial"/>
                <a:cs typeface="Arial"/>
              </a:defRPr>
            </a:lvl3pPr>
            <a:lvl4pPr>
              <a:defRPr sz="2025" b="0">
                <a:solidFill>
                  <a:srgbClr val="342E25"/>
                </a:solidFill>
                <a:latin typeface="Arial"/>
                <a:ea typeface="Arial"/>
                <a:cs typeface="Arial"/>
              </a:defRPr>
            </a:lvl4pPr>
            <a:lvl5pPr>
              <a:defRPr sz="2025" b="0">
                <a:solidFill>
                  <a:srgbClr val="342E25"/>
                </a:solidFill>
                <a:latin typeface="Arial"/>
                <a:ea typeface="Arial"/>
                <a:cs typeface="Arial"/>
              </a:defRPr>
            </a:lvl5pPr>
            <a:lvl6pPr>
              <a:defRPr sz="2025" b="0">
                <a:solidFill>
                  <a:srgbClr val="342E25"/>
                </a:solidFill>
                <a:latin typeface="Arial"/>
                <a:ea typeface="Arial"/>
                <a:cs typeface="Arial"/>
              </a:defRPr>
            </a:lvl6pPr>
            <a:lvl7pPr>
              <a:defRPr sz="2025" b="0">
                <a:solidFill>
                  <a:srgbClr val="342E25"/>
                </a:solidFill>
                <a:latin typeface="Arial"/>
                <a:ea typeface="Arial"/>
                <a:cs typeface="Arial"/>
              </a:defRPr>
            </a:lvl7pPr>
            <a:lvl8pPr>
              <a:defRPr sz="2025" b="0">
                <a:solidFill>
                  <a:srgbClr val="342E25"/>
                </a:solidFill>
                <a:latin typeface="Arial"/>
                <a:ea typeface="Arial"/>
                <a:cs typeface="Arial"/>
              </a:defRPr>
            </a:lvl8pPr>
            <a:lvl9pPr>
              <a:defRPr sz="2025" b="0">
                <a:solidFill>
                  <a:srgbClr val="342E25"/>
                </a:solidFill>
                <a:latin typeface="Arial"/>
                <a:ea typeface="Arial"/>
                <a:cs typeface="Arial"/>
              </a:defRPr>
            </a:lvl9pPr>
          </a:lstStyle>
          <a:p>
            <a:pPr>
              <a:defRPr sz="2025" b="0">
                <a:solidFill>
                  <a:srgbClr val="342E25"/>
                </a:solidFill>
                <a:latin typeface="Arial"/>
                <a:ea typeface="Arial"/>
                <a:cs typeface="Arial"/>
              </a:defRPr>
            </a:pPr>
            <a:r>
              <a:rPr sz="2025" b="0" dirty="0">
                <a:solidFill>
                  <a:srgbClr val="342E25"/>
                </a:solidFill>
                <a:latin typeface="Arial"/>
                <a:ea typeface="Arial"/>
                <a:cs typeface="Arial"/>
              </a:rPr>
              <a:t>Show clearer changes after a fix and add saved case progress.</a:t>
            </a:r>
          </a:p>
        </p:txBody>
      </p:sp>
      <p:sp>
        <p:nvSpPr>
          <p:cNvPr id="12" name="Rectangle 11">
            <a:extLst>
              <a:ext uri="{FF2B5EF4-FFF2-40B4-BE49-F238E27FC236}">
                <a16:creationId xmlns:a16="http://schemas.microsoft.com/office/drawing/2014/main" id="{532EFA12-BC4F-7C84-38A5-41B69ECA3D2B}"/>
              </a:ext>
            </a:extLst>
          </p:cNvPr>
          <p:cNvSpPr>
            <a:spLocks noGrp="1"/>
          </p:cNvSpPr>
          <p:nvPr/>
        </p:nvSpPr>
        <p:spPr>
          <a:xfrm>
            <a:off x="609600" y="4495285"/>
            <a:ext cx="5048250" cy="1057275"/>
          </a:xfrm>
          <a:prstGeom prst="rect">
            <a:avLst/>
          </a:prstGeom>
          <a:noFill/>
          <a:ln w="0">
            <a:noFill/>
          </a:ln>
        </p:spPr>
        <p:txBody>
          <a:bodyPr anchor="t"/>
          <a:lstStyle>
            <a:defPPr>
              <a:defRPr sz="2025" b="0">
                <a:solidFill>
                  <a:srgbClr val="342E25"/>
                </a:solidFill>
                <a:latin typeface="Arial"/>
                <a:ea typeface="Arial"/>
                <a:cs typeface="Arial"/>
              </a:defRPr>
            </a:defPPr>
            <a:lvl1pPr>
              <a:defRPr sz="2025" b="0">
                <a:solidFill>
                  <a:srgbClr val="342E25"/>
                </a:solidFill>
                <a:latin typeface="Arial"/>
                <a:ea typeface="Arial"/>
                <a:cs typeface="Arial"/>
              </a:defRPr>
            </a:lvl1pPr>
            <a:lvl2pPr>
              <a:defRPr sz="2025" b="0">
                <a:solidFill>
                  <a:srgbClr val="342E25"/>
                </a:solidFill>
                <a:latin typeface="Arial"/>
                <a:ea typeface="Arial"/>
                <a:cs typeface="Arial"/>
              </a:defRPr>
            </a:lvl2pPr>
            <a:lvl3pPr>
              <a:defRPr sz="2025" b="0">
                <a:solidFill>
                  <a:srgbClr val="342E25"/>
                </a:solidFill>
                <a:latin typeface="Arial"/>
                <a:ea typeface="Arial"/>
                <a:cs typeface="Arial"/>
              </a:defRPr>
            </a:lvl3pPr>
            <a:lvl4pPr>
              <a:defRPr sz="2025" b="0">
                <a:solidFill>
                  <a:srgbClr val="342E25"/>
                </a:solidFill>
                <a:latin typeface="Arial"/>
                <a:ea typeface="Arial"/>
                <a:cs typeface="Arial"/>
              </a:defRPr>
            </a:lvl4pPr>
            <a:lvl5pPr>
              <a:defRPr sz="2025" b="0">
                <a:solidFill>
                  <a:srgbClr val="342E25"/>
                </a:solidFill>
                <a:latin typeface="Arial"/>
                <a:ea typeface="Arial"/>
                <a:cs typeface="Arial"/>
              </a:defRPr>
            </a:lvl5pPr>
            <a:lvl6pPr>
              <a:defRPr sz="2025" b="0">
                <a:solidFill>
                  <a:srgbClr val="342E25"/>
                </a:solidFill>
                <a:latin typeface="Arial"/>
                <a:ea typeface="Arial"/>
                <a:cs typeface="Arial"/>
              </a:defRPr>
            </a:lvl6pPr>
            <a:lvl7pPr>
              <a:defRPr sz="2025" b="0">
                <a:solidFill>
                  <a:srgbClr val="342E25"/>
                </a:solidFill>
                <a:latin typeface="Arial"/>
                <a:ea typeface="Arial"/>
                <a:cs typeface="Arial"/>
              </a:defRPr>
            </a:lvl7pPr>
            <a:lvl8pPr>
              <a:defRPr sz="2025" b="0">
                <a:solidFill>
                  <a:srgbClr val="342E25"/>
                </a:solidFill>
                <a:latin typeface="Arial"/>
                <a:ea typeface="Arial"/>
                <a:cs typeface="Arial"/>
              </a:defRPr>
            </a:lvl8pPr>
            <a:lvl9pPr>
              <a:defRPr sz="2025" b="0">
                <a:solidFill>
                  <a:srgbClr val="342E25"/>
                </a:solidFill>
                <a:latin typeface="Arial"/>
                <a:ea typeface="Arial"/>
                <a:cs typeface="Arial"/>
              </a:defRPr>
            </a:lvl9pPr>
          </a:lstStyle>
          <a:p>
            <a:pPr>
              <a:defRPr sz="2025" b="0">
                <a:solidFill>
                  <a:srgbClr val="342E25"/>
                </a:solidFill>
                <a:latin typeface="Arial"/>
                <a:ea typeface="Arial"/>
                <a:cs typeface="Arial"/>
              </a:defRPr>
            </a:pPr>
            <a:r>
              <a:rPr lang="en-US" sz="2025" b="0" dirty="0">
                <a:solidFill>
                  <a:srgbClr val="342E25"/>
                </a:solidFill>
                <a:latin typeface="Arial"/>
                <a:ea typeface="Arial"/>
                <a:cs typeface="Arial"/>
              </a:rPr>
              <a:t>UI improvements</a:t>
            </a:r>
            <a:endParaRPr sz="2025" b="0" dirty="0">
              <a:solidFill>
                <a:srgbClr val="342E25"/>
              </a:solidFill>
              <a:latin typeface="Arial"/>
              <a:ea typeface="Arial"/>
              <a:cs typeface="Arial"/>
            </a:endParaRPr>
          </a:p>
        </p:txBody>
      </p:sp>
    </p:spTree>
    <p:extLst>
      <p:ext uri="{BB962C8B-B14F-4D97-AF65-F5344CB8AC3E}">
        <p14:creationId xmlns:p14="http://schemas.microsoft.com/office/powerpoint/2010/main" val="1192454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9D7"/>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1AC9840-3941-4A26-B746-DCB29DC4B41A}"/>
              </a:ext>
            </a:extLst>
          </p:cNvPr>
          <p:cNvSpPr>
            <a:spLocks noGrp="1"/>
          </p:cNvSpPr>
          <p:nvPr/>
        </p:nvSpPr>
        <p:spPr>
          <a:xfrm>
            <a:off x="609600" y="438150"/>
            <a:ext cx="10972800" cy="685800"/>
          </a:xfrm>
          <a:prstGeom prst="rect">
            <a:avLst/>
          </a:prstGeom>
          <a:noFill/>
          <a:ln w="0">
            <a:noFill/>
          </a:ln>
        </p:spPr>
        <p:txBody>
          <a:bodyPr anchor="t"/>
          <a:lstStyle>
            <a:defPPr>
              <a:defRPr sz="3300" b="1">
                <a:solidFill>
                  <a:srgbClr val="342E25"/>
                </a:solidFill>
                <a:latin typeface="Arial"/>
                <a:ea typeface="Arial"/>
                <a:cs typeface="Arial"/>
              </a:defRPr>
            </a:defPPr>
            <a:lvl1pPr>
              <a:defRPr sz="3300" b="1">
                <a:solidFill>
                  <a:srgbClr val="342E25"/>
                </a:solidFill>
                <a:latin typeface="Arial"/>
                <a:ea typeface="Arial"/>
                <a:cs typeface="Arial"/>
              </a:defRPr>
            </a:lvl1pPr>
            <a:lvl2pPr>
              <a:defRPr sz="3300" b="1">
                <a:solidFill>
                  <a:srgbClr val="342E25"/>
                </a:solidFill>
                <a:latin typeface="Arial"/>
                <a:ea typeface="Arial"/>
                <a:cs typeface="Arial"/>
              </a:defRPr>
            </a:lvl2pPr>
            <a:lvl3pPr>
              <a:defRPr sz="3300" b="1">
                <a:solidFill>
                  <a:srgbClr val="342E25"/>
                </a:solidFill>
                <a:latin typeface="Arial"/>
                <a:ea typeface="Arial"/>
                <a:cs typeface="Arial"/>
              </a:defRPr>
            </a:lvl3pPr>
            <a:lvl4pPr>
              <a:defRPr sz="3300" b="1">
                <a:solidFill>
                  <a:srgbClr val="342E25"/>
                </a:solidFill>
                <a:latin typeface="Arial"/>
                <a:ea typeface="Arial"/>
                <a:cs typeface="Arial"/>
              </a:defRPr>
            </a:lvl4pPr>
            <a:lvl5pPr>
              <a:defRPr sz="3300" b="1">
                <a:solidFill>
                  <a:srgbClr val="342E25"/>
                </a:solidFill>
                <a:latin typeface="Arial"/>
                <a:ea typeface="Arial"/>
                <a:cs typeface="Arial"/>
              </a:defRPr>
            </a:lvl5pPr>
            <a:lvl6pPr>
              <a:defRPr sz="3300" b="1">
                <a:solidFill>
                  <a:srgbClr val="342E25"/>
                </a:solidFill>
                <a:latin typeface="Arial"/>
                <a:ea typeface="Arial"/>
                <a:cs typeface="Arial"/>
              </a:defRPr>
            </a:lvl6pPr>
            <a:lvl7pPr>
              <a:defRPr sz="3300" b="1">
                <a:solidFill>
                  <a:srgbClr val="342E25"/>
                </a:solidFill>
                <a:latin typeface="Arial"/>
                <a:ea typeface="Arial"/>
                <a:cs typeface="Arial"/>
              </a:defRPr>
            </a:lvl7pPr>
            <a:lvl8pPr>
              <a:defRPr sz="3300" b="1">
                <a:solidFill>
                  <a:srgbClr val="342E25"/>
                </a:solidFill>
                <a:latin typeface="Arial"/>
                <a:ea typeface="Arial"/>
                <a:cs typeface="Arial"/>
              </a:defRPr>
            </a:lvl8pPr>
            <a:lvl9pPr>
              <a:defRPr sz="3300" b="1">
                <a:solidFill>
                  <a:srgbClr val="342E25"/>
                </a:solidFill>
                <a:latin typeface="Arial"/>
                <a:ea typeface="Arial"/>
                <a:cs typeface="Arial"/>
              </a:defRPr>
            </a:lvl9pPr>
          </a:lstStyle>
          <a:p>
            <a:pPr>
              <a:defRPr sz="3300" b="1">
                <a:solidFill>
                  <a:srgbClr val="342E25"/>
                </a:solidFill>
                <a:latin typeface="Arial"/>
                <a:ea typeface="Arial"/>
                <a:cs typeface="Arial"/>
              </a:defRPr>
            </a:pPr>
            <a:r>
              <a:rPr sz="3300" b="1" dirty="0">
                <a:solidFill>
                  <a:srgbClr val="342E25"/>
                </a:solidFill>
                <a:latin typeface="Arial"/>
                <a:ea typeface="Arial"/>
                <a:cs typeface="Arial"/>
              </a:rPr>
              <a:t>AI usage</a:t>
            </a:r>
          </a:p>
        </p:txBody>
      </p:sp>
      <p:sp>
        <p:nvSpPr>
          <p:cNvPr id="6" name="Rectangle 5">
            <a:extLst>
              <a:ext uri="{FF2B5EF4-FFF2-40B4-BE49-F238E27FC236}">
                <a16:creationId xmlns:a16="http://schemas.microsoft.com/office/drawing/2014/main" id="{7F7890FD-F66E-4F3F-BCC5-D89BDB1273AD}"/>
              </a:ext>
            </a:extLst>
          </p:cNvPr>
          <p:cNvSpPr>
            <a:spLocks noGrp="1"/>
          </p:cNvSpPr>
          <p:nvPr/>
        </p:nvSpPr>
        <p:spPr>
          <a:xfrm>
            <a:off x="661100" y="1438275"/>
            <a:ext cx="5048250" cy="476250"/>
          </a:xfrm>
          <a:prstGeom prst="rect">
            <a:avLst/>
          </a:prstGeom>
          <a:noFill/>
          <a:ln w="0">
            <a:noFill/>
          </a:ln>
        </p:spPr>
        <p:txBody>
          <a:bodyPr anchor="t"/>
          <a:lstStyle>
            <a:defPPr>
              <a:defRPr sz="2250" b="1">
                <a:solidFill>
                  <a:srgbClr val="342E25"/>
                </a:solidFill>
                <a:latin typeface="Arial"/>
                <a:ea typeface="Arial"/>
                <a:cs typeface="Arial"/>
              </a:defRPr>
            </a:defPPr>
            <a:lvl1pPr>
              <a:defRPr sz="2250" b="1">
                <a:solidFill>
                  <a:srgbClr val="342E25"/>
                </a:solidFill>
                <a:latin typeface="Arial"/>
                <a:ea typeface="Arial"/>
                <a:cs typeface="Arial"/>
              </a:defRPr>
            </a:lvl1pPr>
            <a:lvl2pPr>
              <a:defRPr sz="2250" b="1">
                <a:solidFill>
                  <a:srgbClr val="342E25"/>
                </a:solidFill>
                <a:latin typeface="Arial"/>
                <a:ea typeface="Arial"/>
                <a:cs typeface="Arial"/>
              </a:defRPr>
            </a:lvl2pPr>
            <a:lvl3pPr>
              <a:defRPr sz="2250" b="1">
                <a:solidFill>
                  <a:srgbClr val="342E25"/>
                </a:solidFill>
                <a:latin typeface="Arial"/>
                <a:ea typeface="Arial"/>
                <a:cs typeface="Arial"/>
              </a:defRPr>
            </a:lvl3pPr>
            <a:lvl4pPr>
              <a:defRPr sz="2250" b="1">
                <a:solidFill>
                  <a:srgbClr val="342E25"/>
                </a:solidFill>
                <a:latin typeface="Arial"/>
                <a:ea typeface="Arial"/>
                <a:cs typeface="Arial"/>
              </a:defRPr>
            </a:lvl4pPr>
            <a:lvl5pPr>
              <a:defRPr sz="2250" b="1">
                <a:solidFill>
                  <a:srgbClr val="342E25"/>
                </a:solidFill>
                <a:latin typeface="Arial"/>
                <a:ea typeface="Arial"/>
                <a:cs typeface="Arial"/>
              </a:defRPr>
            </a:lvl5pPr>
            <a:lvl6pPr>
              <a:defRPr sz="2250" b="1">
                <a:solidFill>
                  <a:srgbClr val="342E25"/>
                </a:solidFill>
                <a:latin typeface="Arial"/>
                <a:ea typeface="Arial"/>
                <a:cs typeface="Arial"/>
              </a:defRPr>
            </a:lvl6pPr>
            <a:lvl7pPr>
              <a:defRPr sz="2250" b="1">
                <a:solidFill>
                  <a:srgbClr val="342E25"/>
                </a:solidFill>
                <a:latin typeface="Arial"/>
                <a:ea typeface="Arial"/>
                <a:cs typeface="Arial"/>
              </a:defRPr>
            </a:lvl7pPr>
            <a:lvl8pPr>
              <a:defRPr sz="2250" b="1">
                <a:solidFill>
                  <a:srgbClr val="342E25"/>
                </a:solidFill>
                <a:latin typeface="Arial"/>
                <a:ea typeface="Arial"/>
                <a:cs typeface="Arial"/>
              </a:defRPr>
            </a:lvl8pPr>
            <a:lvl9pPr>
              <a:defRPr sz="2250" b="1">
                <a:solidFill>
                  <a:srgbClr val="342E25"/>
                </a:solidFill>
                <a:latin typeface="Arial"/>
                <a:ea typeface="Arial"/>
                <a:cs typeface="Arial"/>
              </a:defRPr>
            </a:lvl9pPr>
          </a:lstStyle>
          <a:p>
            <a:pPr>
              <a:defRPr sz="2250" b="1">
                <a:solidFill>
                  <a:srgbClr val="342E25"/>
                </a:solidFill>
                <a:latin typeface="Arial"/>
                <a:ea typeface="Arial"/>
                <a:cs typeface="Arial"/>
              </a:defRPr>
            </a:pPr>
            <a:r>
              <a:rPr sz="2250" b="1">
                <a:solidFill>
                  <a:srgbClr val="342E25"/>
                </a:solidFill>
                <a:latin typeface="Arial"/>
                <a:ea typeface="Arial"/>
                <a:cs typeface="Arial"/>
              </a:rPr>
              <a:t>OpenAI Codex</a:t>
            </a:r>
          </a:p>
        </p:txBody>
      </p:sp>
      <p:sp>
        <p:nvSpPr>
          <p:cNvPr id="7" name="Rectangle 6">
            <a:extLst>
              <a:ext uri="{FF2B5EF4-FFF2-40B4-BE49-F238E27FC236}">
                <a16:creationId xmlns:a16="http://schemas.microsoft.com/office/drawing/2014/main" id="{8C4C6A8F-BD4C-45CC-873B-24AB0E86C556}"/>
              </a:ext>
            </a:extLst>
          </p:cNvPr>
          <p:cNvSpPr>
            <a:spLocks noGrp="1"/>
          </p:cNvSpPr>
          <p:nvPr/>
        </p:nvSpPr>
        <p:spPr>
          <a:xfrm>
            <a:off x="661100" y="2143125"/>
            <a:ext cx="6860046" cy="923925"/>
          </a:xfrm>
          <a:prstGeom prst="rect">
            <a:avLst/>
          </a:prstGeom>
          <a:noFill/>
          <a:ln w="0">
            <a:noFill/>
          </a:ln>
        </p:spPr>
        <p:txBody>
          <a:bodyPr anchor="t"/>
          <a:lstStyle>
            <a:defPPr>
              <a:defRPr sz="1950" b="0">
                <a:solidFill>
                  <a:srgbClr val="342E25"/>
                </a:solidFill>
                <a:latin typeface="Arial"/>
                <a:ea typeface="Arial"/>
                <a:cs typeface="Arial"/>
              </a:defRPr>
            </a:defPPr>
            <a:lvl1pPr>
              <a:defRPr sz="1950" b="0">
                <a:solidFill>
                  <a:srgbClr val="342E25"/>
                </a:solidFill>
                <a:latin typeface="Arial"/>
                <a:ea typeface="Arial"/>
                <a:cs typeface="Arial"/>
              </a:defRPr>
            </a:lvl1pPr>
            <a:lvl2pPr>
              <a:defRPr sz="1950" b="0">
                <a:solidFill>
                  <a:srgbClr val="342E25"/>
                </a:solidFill>
                <a:latin typeface="Arial"/>
                <a:ea typeface="Arial"/>
                <a:cs typeface="Arial"/>
              </a:defRPr>
            </a:lvl2pPr>
            <a:lvl3pPr>
              <a:defRPr sz="1950" b="0">
                <a:solidFill>
                  <a:srgbClr val="342E25"/>
                </a:solidFill>
                <a:latin typeface="Arial"/>
                <a:ea typeface="Arial"/>
                <a:cs typeface="Arial"/>
              </a:defRPr>
            </a:lvl3pPr>
            <a:lvl4pPr>
              <a:defRPr sz="1950" b="0">
                <a:solidFill>
                  <a:srgbClr val="342E25"/>
                </a:solidFill>
                <a:latin typeface="Arial"/>
                <a:ea typeface="Arial"/>
                <a:cs typeface="Arial"/>
              </a:defRPr>
            </a:lvl4pPr>
            <a:lvl5pPr>
              <a:defRPr sz="1950" b="0">
                <a:solidFill>
                  <a:srgbClr val="342E25"/>
                </a:solidFill>
                <a:latin typeface="Arial"/>
                <a:ea typeface="Arial"/>
                <a:cs typeface="Arial"/>
              </a:defRPr>
            </a:lvl5pPr>
            <a:lvl6pPr>
              <a:defRPr sz="1950" b="0">
                <a:solidFill>
                  <a:srgbClr val="342E25"/>
                </a:solidFill>
                <a:latin typeface="Arial"/>
                <a:ea typeface="Arial"/>
                <a:cs typeface="Arial"/>
              </a:defRPr>
            </a:lvl6pPr>
            <a:lvl7pPr>
              <a:defRPr sz="1950" b="0">
                <a:solidFill>
                  <a:srgbClr val="342E25"/>
                </a:solidFill>
                <a:latin typeface="Arial"/>
                <a:ea typeface="Arial"/>
                <a:cs typeface="Arial"/>
              </a:defRPr>
            </a:lvl7pPr>
            <a:lvl8pPr>
              <a:defRPr sz="1950" b="0">
                <a:solidFill>
                  <a:srgbClr val="342E25"/>
                </a:solidFill>
                <a:latin typeface="Arial"/>
                <a:ea typeface="Arial"/>
                <a:cs typeface="Arial"/>
              </a:defRPr>
            </a:lvl8pPr>
            <a:lvl9pPr>
              <a:defRPr sz="1950" b="0">
                <a:solidFill>
                  <a:srgbClr val="342E25"/>
                </a:solidFill>
                <a:latin typeface="Arial"/>
                <a:ea typeface="Arial"/>
                <a:cs typeface="Arial"/>
              </a:defRPr>
            </a:lvl9pPr>
          </a:lstStyle>
          <a:p>
            <a:pPr>
              <a:defRPr sz="1950" b="0">
                <a:solidFill>
                  <a:srgbClr val="342E25"/>
                </a:solidFill>
                <a:latin typeface="Arial"/>
                <a:ea typeface="Arial"/>
                <a:cs typeface="Arial"/>
              </a:defRPr>
            </a:pPr>
            <a:r>
              <a:rPr lang="en-US" dirty="0"/>
              <a:t>Assisted with C# scripting, debugging, and code refactoring</a:t>
            </a:r>
            <a:endParaRPr sz="1950" b="0" dirty="0">
              <a:solidFill>
                <a:srgbClr val="342E25"/>
              </a:solidFill>
              <a:latin typeface="Arial"/>
              <a:ea typeface="Arial"/>
              <a:cs typeface="Arial"/>
            </a:endParaRPr>
          </a:p>
        </p:txBody>
      </p:sp>
      <p:sp>
        <p:nvSpPr>
          <p:cNvPr id="8" name="Rectangle 7">
            <a:extLst>
              <a:ext uri="{FF2B5EF4-FFF2-40B4-BE49-F238E27FC236}">
                <a16:creationId xmlns:a16="http://schemas.microsoft.com/office/drawing/2014/main" id="{D8775DE6-0B0E-4EA0-B7AC-0B2FAEF28CA3}"/>
              </a:ext>
            </a:extLst>
          </p:cNvPr>
          <p:cNvSpPr>
            <a:spLocks noGrp="1"/>
          </p:cNvSpPr>
          <p:nvPr/>
        </p:nvSpPr>
        <p:spPr>
          <a:xfrm>
            <a:off x="661099" y="3200400"/>
            <a:ext cx="6522295" cy="923925"/>
          </a:xfrm>
          <a:prstGeom prst="rect">
            <a:avLst/>
          </a:prstGeom>
          <a:noFill/>
          <a:ln w="0">
            <a:noFill/>
          </a:ln>
        </p:spPr>
        <p:txBody>
          <a:bodyPr anchor="t"/>
          <a:lstStyle>
            <a:defPPr>
              <a:defRPr sz="1950" b="0">
                <a:solidFill>
                  <a:srgbClr val="342E25"/>
                </a:solidFill>
                <a:latin typeface="Arial"/>
                <a:ea typeface="Arial"/>
                <a:cs typeface="Arial"/>
              </a:defRPr>
            </a:defPPr>
            <a:lvl1pPr>
              <a:defRPr sz="1950" b="0">
                <a:solidFill>
                  <a:srgbClr val="342E25"/>
                </a:solidFill>
                <a:latin typeface="Arial"/>
                <a:ea typeface="Arial"/>
                <a:cs typeface="Arial"/>
              </a:defRPr>
            </a:lvl1pPr>
            <a:lvl2pPr>
              <a:defRPr sz="1950" b="0">
                <a:solidFill>
                  <a:srgbClr val="342E25"/>
                </a:solidFill>
                <a:latin typeface="Arial"/>
                <a:ea typeface="Arial"/>
                <a:cs typeface="Arial"/>
              </a:defRPr>
            </a:lvl2pPr>
            <a:lvl3pPr>
              <a:defRPr sz="1950" b="0">
                <a:solidFill>
                  <a:srgbClr val="342E25"/>
                </a:solidFill>
                <a:latin typeface="Arial"/>
                <a:ea typeface="Arial"/>
                <a:cs typeface="Arial"/>
              </a:defRPr>
            </a:lvl3pPr>
            <a:lvl4pPr>
              <a:defRPr sz="1950" b="0">
                <a:solidFill>
                  <a:srgbClr val="342E25"/>
                </a:solidFill>
                <a:latin typeface="Arial"/>
                <a:ea typeface="Arial"/>
                <a:cs typeface="Arial"/>
              </a:defRPr>
            </a:lvl4pPr>
            <a:lvl5pPr>
              <a:defRPr sz="1950" b="0">
                <a:solidFill>
                  <a:srgbClr val="342E25"/>
                </a:solidFill>
                <a:latin typeface="Arial"/>
                <a:ea typeface="Arial"/>
                <a:cs typeface="Arial"/>
              </a:defRPr>
            </a:lvl5pPr>
            <a:lvl6pPr>
              <a:defRPr sz="1950" b="0">
                <a:solidFill>
                  <a:srgbClr val="342E25"/>
                </a:solidFill>
                <a:latin typeface="Arial"/>
                <a:ea typeface="Arial"/>
                <a:cs typeface="Arial"/>
              </a:defRPr>
            </a:lvl6pPr>
            <a:lvl7pPr>
              <a:defRPr sz="1950" b="0">
                <a:solidFill>
                  <a:srgbClr val="342E25"/>
                </a:solidFill>
                <a:latin typeface="Arial"/>
                <a:ea typeface="Arial"/>
                <a:cs typeface="Arial"/>
              </a:defRPr>
            </a:lvl7pPr>
            <a:lvl8pPr>
              <a:defRPr sz="1950" b="0">
                <a:solidFill>
                  <a:srgbClr val="342E25"/>
                </a:solidFill>
                <a:latin typeface="Arial"/>
                <a:ea typeface="Arial"/>
                <a:cs typeface="Arial"/>
              </a:defRPr>
            </a:lvl8pPr>
            <a:lvl9pPr>
              <a:defRPr sz="1950" b="0">
                <a:solidFill>
                  <a:srgbClr val="342E25"/>
                </a:solidFill>
                <a:latin typeface="Arial"/>
                <a:ea typeface="Arial"/>
                <a:cs typeface="Arial"/>
              </a:defRPr>
            </a:lvl9pPr>
          </a:lstStyle>
          <a:p>
            <a:pPr>
              <a:defRPr sz="1950" b="0">
                <a:solidFill>
                  <a:srgbClr val="342E25"/>
                </a:solidFill>
                <a:latin typeface="Arial"/>
                <a:ea typeface="Arial"/>
                <a:cs typeface="Arial"/>
              </a:defRPr>
            </a:pPr>
            <a:r>
              <a:rPr lang="en-US" dirty="0"/>
              <a:t>Generated scenarios, device clues, and case data.</a:t>
            </a:r>
            <a:endParaRPr sz="1950" b="0" dirty="0">
              <a:solidFill>
                <a:srgbClr val="342E25"/>
              </a:solidFill>
              <a:latin typeface="Arial"/>
              <a:ea typeface="Arial"/>
              <a:cs typeface="Arial"/>
            </a:endParaRPr>
          </a:p>
        </p:txBody>
      </p:sp>
      <p:sp>
        <p:nvSpPr>
          <p:cNvPr id="9" name="Rectangle 8">
            <a:extLst>
              <a:ext uri="{FF2B5EF4-FFF2-40B4-BE49-F238E27FC236}">
                <a16:creationId xmlns:a16="http://schemas.microsoft.com/office/drawing/2014/main" id="{62863F89-D50F-4EB7-A460-178FA54A6572}"/>
              </a:ext>
            </a:extLst>
          </p:cNvPr>
          <p:cNvSpPr>
            <a:spLocks noGrp="1"/>
          </p:cNvSpPr>
          <p:nvPr/>
        </p:nvSpPr>
        <p:spPr>
          <a:xfrm>
            <a:off x="661100" y="4257675"/>
            <a:ext cx="5048250" cy="923925"/>
          </a:xfrm>
          <a:prstGeom prst="rect">
            <a:avLst/>
          </a:prstGeom>
          <a:noFill/>
          <a:ln w="0">
            <a:noFill/>
          </a:ln>
        </p:spPr>
        <p:txBody>
          <a:bodyPr anchor="t"/>
          <a:lstStyle>
            <a:defPPr>
              <a:defRPr sz="1950" b="0">
                <a:solidFill>
                  <a:srgbClr val="342E25"/>
                </a:solidFill>
                <a:latin typeface="Arial"/>
                <a:ea typeface="Arial"/>
                <a:cs typeface="Arial"/>
              </a:defRPr>
            </a:defPPr>
            <a:lvl1pPr>
              <a:defRPr sz="1950" b="0">
                <a:solidFill>
                  <a:srgbClr val="342E25"/>
                </a:solidFill>
                <a:latin typeface="Arial"/>
                <a:ea typeface="Arial"/>
                <a:cs typeface="Arial"/>
              </a:defRPr>
            </a:lvl1pPr>
            <a:lvl2pPr>
              <a:defRPr sz="1950" b="0">
                <a:solidFill>
                  <a:srgbClr val="342E25"/>
                </a:solidFill>
                <a:latin typeface="Arial"/>
                <a:ea typeface="Arial"/>
                <a:cs typeface="Arial"/>
              </a:defRPr>
            </a:lvl2pPr>
            <a:lvl3pPr>
              <a:defRPr sz="1950" b="0">
                <a:solidFill>
                  <a:srgbClr val="342E25"/>
                </a:solidFill>
                <a:latin typeface="Arial"/>
                <a:ea typeface="Arial"/>
                <a:cs typeface="Arial"/>
              </a:defRPr>
            </a:lvl3pPr>
            <a:lvl4pPr>
              <a:defRPr sz="1950" b="0">
                <a:solidFill>
                  <a:srgbClr val="342E25"/>
                </a:solidFill>
                <a:latin typeface="Arial"/>
                <a:ea typeface="Arial"/>
                <a:cs typeface="Arial"/>
              </a:defRPr>
            </a:lvl4pPr>
            <a:lvl5pPr>
              <a:defRPr sz="1950" b="0">
                <a:solidFill>
                  <a:srgbClr val="342E25"/>
                </a:solidFill>
                <a:latin typeface="Arial"/>
                <a:ea typeface="Arial"/>
                <a:cs typeface="Arial"/>
              </a:defRPr>
            </a:lvl5pPr>
            <a:lvl6pPr>
              <a:defRPr sz="1950" b="0">
                <a:solidFill>
                  <a:srgbClr val="342E25"/>
                </a:solidFill>
                <a:latin typeface="Arial"/>
                <a:ea typeface="Arial"/>
                <a:cs typeface="Arial"/>
              </a:defRPr>
            </a:lvl6pPr>
            <a:lvl7pPr>
              <a:defRPr sz="1950" b="0">
                <a:solidFill>
                  <a:srgbClr val="342E25"/>
                </a:solidFill>
                <a:latin typeface="Arial"/>
                <a:ea typeface="Arial"/>
                <a:cs typeface="Arial"/>
              </a:defRPr>
            </a:lvl7pPr>
            <a:lvl8pPr>
              <a:defRPr sz="1950" b="0">
                <a:solidFill>
                  <a:srgbClr val="342E25"/>
                </a:solidFill>
                <a:latin typeface="Arial"/>
                <a:ea typeface="Arial"/>
                <a:cs typeface="Arial"/>
              </a:defRPr>
            </a:lvl8pPr>
            <a:lvl9pPr>
              <a:defRPr sz="1950" b="0">
                <a:solidFill>
                  <a:srgbClr val="342E25"/>
                </a:solidFill>
                <a:latin typeface="Arial"/>
                <a:ea typeface="Arial"/>
                <a:cs typeface="Arial"/>
              </a:defRPr>
            </a:lvl9pPr>
          </a:lstStyle>
          <a:p>
            <a:pPr>
              <a:defRPr sz="1950" b="0">
                <a:solidFill>
                  <a:srgbClr val="342E25"/>
                </a:solidFill>
                <a:latin typeface="Arial"/>
                <a:ea typeface="Arial"/>
                <a:cs typeface="Arial"/>
              </a:defRPr>
            </a:pPr>
            <a:r>
              <a:rPr lang="en-US" dirty="0"/>
              <a:t>Documentation (README.md)</a:t>
            </a:r>
            <a:endParaRPr sz="1950" b="0" dirty="0">
              <a:solidFill>
                <a:srgbClr val="342E25"/>
              </a:solidFill>
              <a:latin typeface="Arial"/>
              <a:ea typeface="Arial"/>
              <a:cs typeface="Arial"/>
            </a:endParaRPr>
          </a:p>
        </p:txBody>
      </p:sp>
      <p:sp>
        <p:nvSpPr>
          <p:cNvPr id="15" name="Rectangle 14">
            <a:extLst>
              <a:ext uri="{FF2B5EF4-FFF2-40B4-BE49-F238E27FC236}">
                <a16:creationId xmlns:a16="http://schemas.microsoft.com/office/drawing/2014/main" id="{64B18879-44D2-CE3A-75F5-A114A62FD467}"/>
              </a:ext>
            </a:extLst>
          </p:cNvPr>
          <p:cNvSpPr>
            <a:spLocks noGrp="1"/>
          </p:cNvSpPr>
          <p:nvPr/>
        </p:nvSpPr>
        <p:spPr>
          <a:xfrm>
            <a:off x="661100" y="5143500"/>
            <a:ext cx="5048250" cy="1057275"/>
          </a:xfrm>
          <a:prstGeom prst="rect">
            <a:avLst/>
          </a:prstGeom>
          <a:noFill/>
          <a:ln w="0">
            <a:noFill/>
          </a:ln>
        </p:spPr>
        <p:txBody>
          <a:bodyPr anchor="t"/>
          <a:lstStyle>
            <a:defPPr>
              <a:defRPr sz="2025" b="0">
                <a:solidFill>
                  <a:srgbClr val="342E25"/>
                </a:solidFill>
                <a:latin typeface="Arial"/>
                <a:ea typeface="Arial"/>
                <a:cs typeface="Arial"/>
              </a:defRPr>
            </a:defPPr>
            <a:lvl1pPr>
              <a:defRPr sz="2025" b="0">
                <a:solidFill>
                  <a:srgbClr val="342E25"/>
                </a:solidFill>
                <a:latin typeface="Arial"/>
                <a:ea typeface="Arial"/>
                <a:cs typeface="Arial"/>
              </a:defRPr>
            </a:lvl1pPr>
            <a:lvl2pPr>
              <a:defRPr sz="2025" b="0">
                <a:solidFill>
                  <a:srgbClr val="342E25"/>
                </a:solidFill>
                <a:latin typeface="Arial"/>
                <a:ea typeface="Arial"/>
                <a:cs typeface="Arial"/>
              </a:defRPr>
            </a:lvl2pPr>
            <a:lvl3pPr>
              <a:defRPr sz="2025" b="0">
                <a:solidFill>
                  <a:srgbClr val="342E25"/>
                </a:solidFill>
                <a:latin typeface="Arial"/>
                <a:ea typeface="Arial"/>
                <a:cs typeface="Arial"/>
              </a:defRPr>
            </a:lvl3pPr>
            <a:lvl4pPr>
              <a:defRPr sz="2025" b="0">
                <a:solidFill>
                  <a:srgbClr val="342E25"/>
                </a:solidFill>
                <a:latin typeface="Arial"/>
                <a:ea typeface="Arial"/>
                <a:cs typeface="Arial"/>
              </a:defRPr>
            </a:lvl4pPr>
            <a:lvl5pPr>
              <a:defRPr sz="2025" b="0">
                <a:solidFill>
                  <a:srgbClr val="342E25"/>
                </a:solidFill>
                <a:latin typeface="Arial"/>
                <a:ea typeface="Arial"/>
                <a:cs typeface="Arial"/>
              </a:defRPr>
            </a:lvl5pPr>
            <a:lvl6pPr>
              <a:defRPr sz="2025" b="0">
                <a:solidFill>
                  <a:srgbClr val="342E25"/>
                </a:solidFill>
                <a:latin typeface="Arial"/>
                <a:ea typeface="Arial"/>
                <a:cs typeface="Arial"/>
              </a:defRPr>
            </a:lvl6pPr>
            <a:lvl7pPr>
              <a:defRPr sz="2025" b="0">
                <a:solidFill>
                  <a:srgbClr val="342E25"/>
                </a:solidFill>
                <a:latin typeface="Arial"/>
                <a:ea typeface="Arial"/>
                <a:cs typeface="Arial"/>
              </a:defRPr>
            </a:lvl7pPr>
            <a:lvl8pPr>
              <a:defRPr sz="2025" b="0">
                <a:solidFill>
                  <a:srgbClr val="342E25"/>
                </a:solidFill>
                <a:latin typeface="Arial"/>
                <a:ea typeface="Arial"/>
                <a:cs typeface="Arial"/>
              </a:defRPr>
            </a:lvl8pPr>
            <a:lvl9pPr>
              <a:defRPr sz="2025" b="0">
                <a:solidFill>
                  <a:srgbClr val="342E25"/>
                </a:solidFill>
                <a:latin typeface="Arial"/>
                <a:ea typeface="Arial"/>
                <a:cs typeface="Arial"/>
              </a:defRPr>
            </a:lvl9pPr>
          </a:lstStyle>
          <a:p>
            <a:pPr>
              <a:defRPr sz="2025" b="0">
                <a:solidFill>
                  <a:srgbClr val="342E25"/>
                </a:solidFill>
                <a:latin typeface="Arial"/>
                <a:ea typeface="Arial"/>
                <a:cs typeface="Arial"/>
              </a:defRPr>
            </a:pPr>
            <a:r>
              <a:rPr lang="en-US" dirty="0"/>
              <a:t>HUD</a:t>
            </a:r>
            <a:endParaRPr sz="2025" b="0" dirty="0">
              <a:solidFill>
                <a:srgbClr val="342E25"/>
              </a:solidFill>
              <a:latin typeface="Arial"/>
              <a:ea typeface="Arial"/>
              <a:cs typeface="Arial"/>
            </a:endParaRPr>
          </a:p>
        </p:txBody>
      </p:sp>
    </p:spTree>
    <p:extLst>
      <p:ext uri="{BB962C8B-B14F-4D97-AF65-F5344CB8AC3E}">
        <p14:creationId xmlns:p14="http://schemas.microsoft.com/office/powerpoint/2010/main" val="17179734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577</Words>
  <Application>Microsoft Office PowerPoint</Application>
  <DocSecurity>0</DocSecurity>
  <PresentationFormat>Widescreen</PresentationFormat>
  <Paragraphs>39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Rolands Leja</cp:lastModifiedBy>
  <cp:revision>9</cp:revision>
  <dcterms:created xsi:type="dcterms:W3CDTF">2026-10-28T10:23:50Z</dcterms:created>
  <dcterms:modified xsi:type="dcterms:W3CDTF">2026-10-28T10:55:46Z</dcterms:modified>
</cp:coreProperties>
</file>